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yuxuan" initials="y" lastIdx="0" clrIdx="0"/>
  <p:cmAuthor id="2" name="kingsoft" initials="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929639" y="4456744"/>
            <a:ext cx="4510890" cy="652294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000" b="1" smtClean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kumimoji="1" lang="en-US" altLang="zh-CN" dirty="0"/>
              <a:t>Eric</a:t>
            </a:r>
            <a:r>
              <a:rPr kumimoji="1" lang="zh-CN" altLang="en-US" dirty="0"/>
              <a:t> </a:t>
            </a:r>
            <a:r>
              <a:rPr kumimoji="1" lang="en-US" altLang="zh-CN" dirty="0"/>
              <a:t>Wong</a:t>
            </a:r>
            <a:endParaRPr kumimoji="1" lang="zh-CN" altLang="en-US" dirty="0"/>
          </a:p>
        </p:txBody>
      </p:sp>
      <p:sp>
        <p:nvSpPr>
          <p:cNvPr id="7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29639" y="5098392"/>
            <a:ext cx="4510890" cy="42832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Alibaba PuHuiTi L" pitchFamily="18" charset="-122"/>
                <a:ea typeface="Alibaba PuHuiTi L" pitchFamily="18" charset="-122"/>
                <a:cs typeface="Alibaba PuHuiTi L" pitchFamily="18" charset="-122"/>
              </a:defRPr>
            </a:lvl1pPr>
          </a:lstStyle>
          <a:p>
            <a:pPr marL="0" lvl="0"/>
            <a:r>
              <a:rPr kumimoji="1" lang="zh-CN" altLang="en-US" dirty="0"/>
              <a:t>王睿</a:t>
            </a:r>
            <a:endParaRPr kumimoji="1" lang="zh-CN" altLang="en-US" dirty="0"/>
          </a:p>
        </p:txBody>
      </p:sp>
      <p:sp>
        <p:nvSpPr>
          <p:cNvPr id="8" name="图片占位符 27"/>
          <p:cNvSpPr>
            <a:spLocks noGrp="1"/>
          </p:cNvSpPr>
          <p:nvPr>
            <p:ph type="pic" sz="quarter" idx="13" hasCustomPrompt="1"/>
          </p:nvPr>
        </p:nvSpPr>
        <p:spPr>
          <a:xfrm>
            <a:off x="951983" y="2433265"/>
            <a:ext cx="1837255" cy="183725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libaba PuHuiTi H" pitchFamily="18" charset="-122"/>
                <a:ea typeface="Alibaba PuHuiTi H" pitchFamily="18" charset="-122"/>
                <a:cs typeface="Alibaba PuHuiTi H" pitchFamily="18" charset="-122"/>
              </a:defRPr>
            </a:lvl1pPr>
          </a:lstStyle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点击替换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image" Target="../media/image8.png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image" Target="../media/image5.png"/><Relationship Id="rId12" Type="http://schemas.openxmlformats.org/officeDocument/2006/relationships/tags" Target="../tags/tag8.xml"/><Relationship Id="rId11" Type="http://schemas.openxmlformats.org/officeDocument/2006/relationships/image" Target="../media/image4.png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9.png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1.xml"/><Relationship Id="rId5" Type="http://schemas.openxmlformats.org/officeDocument/2006/relationships/image" Target="../media/image10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6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9.xml"/><Relationship Id="rId5" Type="http://schemas.openxmlformats.org/officeDocument/2006/relationships/image" Target="../media/image10.png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image" Target="../media/image4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0.xml"/><Relationship Id="rId5" Type="http://schemas.openxmlformats.org/officeDocument/2006/relationships/image" Target="../media/image10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4.png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2" Type="http://schemas.openxmlformats.org/officeDocument/2006/relationships/notesSlide" Target="../notesSlides/notesSlide11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128.xml"/><Relationship Id="rId3" Type="http://schemas.openxmlformats.org/officeDocument/2006/relationships/tags" Target="../tags/tag101.xml"/><Relationship Id="rId29" Type="http://schemas.openxmlformats.org/officeDocument/2006/relationships/tags" Target="../tags/tag127.xml"/><Relationship Id="rId28" Type="http://schemas.openxmlformats.org/officeDocument/2006/relationships/tags" Target="../tags/tag126.xml"/><Relationship Id="rId27" Type="http://schemas.openxmlformats.org/officeDocument/2006/relationships/tags" Target="../tags/tag125.xml"/><Relationship Id="rId26" Type="http://schemas.openxmlformats.org/officeDocument/2006/relationships/tags" Target="../tags/tag124.xml"/><Relationship Id="rId25" Type="http://schemas.openxmlformats.org/officeDocument/2006/relationships/tags" Target="../tags/tag123.xml"/><Relationship Id="rId24" Type="http://schemas.openxmlformats.org/officeDocument/2006/relationships/tags" Target="../tags/tag122.xml"/><Relationship Id="rId23" Type="http://schemas.openxmlformats.org/officeDocument/2006/relationships/tags" Target="../tags/tag121.xml"/><Relationship Id="rId22" Type="http://schemas.openxmlformats.org/officeDocument/2006/relationships/tags" Target="../tags/tag120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image" Target="../media/image4.png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上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1575" y="268605"/>
            <a:ext cx="10194925" cy="678815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0" y="-3175"/>
            <a:ext cx="12192635" cy="6882765"/>
          </a:xfrm>
          <a:prstGeom prst="rect">
            <a:avLst/>
          </a:prstGeom>
          <a:gradFill>
            <a:gsLst>
              <a:gs pos="0">
                <a:srgbClr val="FEC844"/>
              </a:gs>
              <a:gs pos="100000">
                <a:srgbClr val="FEC844">
                  <a:alpha val="0"/>
                </a:srgbClr>
              </a:gs>
            </a:gsLst>
            <a:lin ang="1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6082030" y="-4311015"/>
            <a:ext cx="12966065" cy="12966065"/>
          </a:xfrm>
          <a:prstGeom prst="ellipse">
            <a:avLst/>
          </a:prstGeom>
          <a:gradFill>
            <a:gsLst>
              <a:gs pos="53000">
                <a:srgbClr val="FEC844"/>
              </a:gs>
              <a:gs pos="100000">
                <a:srgbClr val="FFE078">
                  <a:alpha val="100000"/>
                </a:srgbClr>
              </a:gs>
            </a:gsLst>
            <a:lin ang="1920000" scaled="0"/>
          </a:gradFill>
          <a:ln>
            <a:noFill/>
          </a:ln>
          <a:effectLst>
            <a:outerShdw blurRad="711200" dist="50800" dir="2700000" algn="tl" rotWithShape="0">
              <a:schemeClr val="bg1">
                <a:alpha val="30000"/>
              </a:scheme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ffectLst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437005" y="0"/>
            <a:ext cx="9319260" cy="6879590"/>
            <a:chOff x="2263" y="0"/>
            <a:chExt cx="14676" cy="10834"/>
          </a:xfrm>
        </p:grpSpPr>
        <p:cxnSp>
          <p:nvCxnSpPr>
            <p:cNvPr id="69" name="直接连接符 68"/>
            <p:cNvCxnSpPr/>
            <p:nvPr/>
          </p:nvCxnSpPr>
          <p:spPr>
            <a:xfrm>
              <a:off x="2263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709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7155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9601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12047" y="0"/>
              <a:ext cx="0" cy="10834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14493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16939" y="0"/>
              <a:ext cx="0" cy="10787"/>
            </a:xfrm>
            <a:prstGeom prst="line">
              <a:avLst/>
            </a:prstGeom>
            <a:ln w="15875">
              <a:solidFill>
                <a:schemeClr val="bg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2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624840" y="3139440"/>
            <a:ext cx="6694805" cy="9779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/>
          <a:lstStyle>
            <a:lvl1pPr lvl="0">
              <a:buClrTx/>
              <a:buSzTx/>
              <a:buFontTx/>
              <a:defRPr b="0">
                <a:latin typeface="MiSans Semibold" panose="00000700000000000000" charset="-122"/>
                <a:ea typeface="MiSans Semibold" panose="00000700000000000000" charset="-122"/>
              </a:defRPr>
            </a:lvl1pPr>
          </a:lstStyle>
          <a:p>
            <a:pPr indent="0" fontAlgn="auto">
              <a:lnSpc>
                <a:spcPts val="342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University of California, Berkeley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fontAlgn="auto">
              <a:lnSpc>
                <a:spcPts val="342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-</a:t>
            </a:r>
            <a:r>
              <a:rPr lang="en-GB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Computer Science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专业本科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377190" y="4858385"/>
            <a:ext cx="452183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1828165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路觅学生</a:t>
            </a:r>
            <a:r>
              <a:rPr kumimoji="0" lang="en-US" altLang="zh-CN" cap="none" spc="0" normalizeH="0" baseline="0" noProof="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：[ 2025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级，王同学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en-US" altLang="zh-CN" cap="none" spc="0" normalizeH="0" baseline="0" noProof="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]</a:t>
            </a:r>
            <a:endParaRPr kumimoji="0" lang="en-US" altLang="zh-CN" cap="none" spc="0" normalizeH="0" baseline="0" noProof="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15"/>
          <p:cNvSpPr txBox="1"/>
          <p:nvPr>
            <p:custDataLst>
              <p:tags r:id="rId5"/>
            </p:custDataLst>
          </p:nvPr>
        </p:nvSpPr>
        <p:spPr>
          <a:xfrm>
            <a:off x="377190" y="5309235"/>
            <a:ext cx="452183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1828165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cap="none" spc="0" normalizeH="0" baseline="0" noProof="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路觅导师</a:t>
            </a:r>
            <a:r>
              <a:rPr kumimoji="0" lang="en-US" cap="none" spc="0" normalizeH="0" baseline="0" noProof="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：[ Luxiaomi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en-US" cap="none" spc="0" normalizeH="0" baseline="0" noProof="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]</a:t>
            </a:r>
            <a:endParaRPr kumimoji="0" lang="en-US" cap="none" spc="0" normalizeH="0" baseline="0" noProof="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图片 12" descr="授课课程"/>
          <p:cNvPicPr>
            <a:picLocks noChangeAspect="1"/>
          </p:cNvPicPr>
          <p:nvPr/>
        </p:nvPicPr>
        <p:blipFill>
          <a:blip r:embed="rId6">
            <a:alphaModFix amt="32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190" y="962025"/>
            <a:ext cx="1296035" cy="129603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377190" y="2228850"/>
            <a:ext cx="610743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ts val="4620"/>
              </a:lnSpc>
              <a:buNone/>
            </a:pPr>
            <a:r>
              <a:rPr lang="zh-CN" altLang="en-US" sz="7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Open Sans" pitchFamily="34" charset="0"/>
                <a:sym typeface="+mn-ea"/>
              </a:rPr>
              <a:t>学期课程解读</a:t>
            </a:r>
            <a:endParaRPr lang="en-US" altLang="zh-CN" sz="72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Open Sans" pitchFamily="34" charset="0"/>
              <a:sym typeface="+mn-ea"/>
            </a:endParaRPr>
          </a:p>
          <a:p>
            <a:pPr indent="0" fontAlgn="auto">
              <a:lnSpc>
                <a:spcPts val="4620"/>
              </a:lnSpc>
              <a:buNone/>
            </a:pP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39" name="Прямая соединительная линия 38"/>
          <p:cNvCxnSpPr/>
          <p:nvPr>
            <p:custDataLst>
              <p:tags r:id="rId9"/>
            </p:custDataLst>
          </p:nvPr>
        </p:nvCxnSpPr>
        <p:spPr>
          <a:xfrm>
            <a:off x="465949" y="3079935"/>
            <a:ext cx="5559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编组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60985" y="268605"/>
            <a:ext cx="3011805" cy="45085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72440" y="3343910"/>
            <a:ext cx="92710" cy="207010"/>
          </a:xfrm>
          <a:prstGeom prst="rect">
            <a:avLst/>
          </a:prstGeom>
          <a:solidFill>
            <a:srgbClr val="F95900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10859135" y="5553710"/>
            <a:ext cx="495300" cy="4953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10859135" y="6172835"/>
            <a:ext cx="495300" cy="4953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11468100" y="6182360"/>
            <a:ext cx="495300" cy="495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alphaModFix amt="80000"/>
          </a:blip>
          <a:stretch>
            <a:fillRect/>
          </a:stretch>
        </p:blipFill>
        <p:spPr>
          <a:xfrm>
            <a:off x="11468100" y="5553710"/>
            <a:ext cx="4953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50510" y="1955165"/>
            <a:ext cx="510667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University of California,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2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Berkeley</a:t>
            </a:r>
            <a:endParaRPr sz="200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rPr>
              <a:t>计算机科学硕士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50510" y="3092450"/>
            <a:ext cx="5965825" cy="1111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GPA 3.95, 曾担任 CS 61A (计算思维基础) / CS 61B (数据结构) / CS 70 (离散数学) 等核心课程的 研究生助教 </a:t>
            </a:r>
            <a:r>
              <a:rPr kumimoji="0" 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。累计指导超过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30</a:t>
            </a:r>
            <a:r>
              <a:rPr kumimoji="0" 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名本科生 进行课程内容学习、作业项目答疑及初步选课咨询。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50510" y="4568825"/>
            <a:ext cx="642874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成功帮助超过 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1</a:t>
            </a:r>
            <a:r>
              <a:rPr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0 名学生规划低年级课程，顺利达到竞争激烈的 CS 专业声明要求。</a:t>
            </a:r>
            <a:endParaRPr sz="1600" dirty="0">
              <a:solidFill>
                <a:prstClr val="black">
                  <a:lumMod val="75000"/>
                  <a:lumOff val="25000"/>
                </a:prst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为多名学生提供个性化选课建议，帮助他们在保障核心课程成绩的同时，合理搭配通识课程和选修课，平均学期 GPA 提升 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5</a:t>
            </a:r>
            <a:r>
              <a:rPr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% </a:t>
            </a:r>
            <a:r>
              <a:rPr 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。</a:t>
            </a:r>
            <a:endParaRPr lang="zh-CN" sz="1600" dirty="0">
              <a:solidFill>
                <a:prstClr val="black">
                  <a:lumMod val="75000"/>
                  <a:lumOff val="25000"/>
                </a:prst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71195" y="372110"/>
            <a:ext cx="356425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>
                <a:gradFill>
                  <a:gsLst>
                    <a:gs pos="0">
                      <a:schemeClr val="accent1">
                        <a:lumMod val="86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3200" dirty="0">
                <a:solidFill>
                  <a:schemeClr val="tx1"/>
                </a:solidFill>
                <a:latin typeface="MiSans Demibold" panose="00000700000000000000" charset="-122"/>
                <a:ea typeface="MiSans Demibold" panose="00000700000000000000" charset="-122"/>
                <a:cs typeface="Alibaba PuHuiTi H" pitchFamily="18" charset="-122"/>
              </a:rPr>
              <a:t>路觅导师简介</a:t>
            </a:r>
            <a:endParaRPr lang="zh-CN" altLang="en-US" sz="3200" dirty="0">
              <a:solidFill>
                <a:schemeClr val="tx1"/>
              </a:solidFill>
              <a:latin typeface="MiSans Demibold" panose="00000700000000000000" charset="-122"/>
              <a:ea typeface="MiSans Demibold" panose="00000700000000000000" charset="-122"/>
              <a:cs typeface="Alibaba PuHuiTi H" pitchFamily="18" charset="-122"/>
            </a:endParaRP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1"/>
          </p:nvPr>
        </p:nvSpPr>
        <p:spPr>
          <a:xfrm>
            <a:off x="5340350" y="982345"/>
            <a:ext cx="3098165" cy="700405"/>
          </a:xfrm>
        </p:spPr>
        <p:txBody>
          <a:bodyPr wrap="square"/>
          <a:lstStyle/>
          <a:p>
            <a:r>
              <a:rPr lang="en-US" altLang="zh-CN" sz="4400" dirty="0">
                <a:solidFill>
                  <a:schemeClr val="tx1"/>
                </a:solidFill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rPr>
              <a:t>Luxiaomi</a:t>
            </a:r>
            <a:endParaRPr lang="en-US" altLang="zh-CN" sz="4400" dirty="0">
              <a:solidFill>
                <a:schemeClr val="tx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0010775" y="271780"/>
            <a:ext cx="1894840" cy="929005"/>
            <a:chOff x="7183" y="233"/>
            <a:chExt cx="2984" cy="1463"/>
          </a:xfrm>
        </p:grpSpPr>
        <p:sp>
          <p:nvSpPr>
            <p:cNvPr id="37" name="椭圆 36"/>
            <p:cNvSpPr/>
            <p:nvPr>
              <p:custDataLst>
                <p:tags r:id="rId1"/>
              </p:custDataLst>
            </p:nvPr>
          </p:nvSpPr>
          <p:spPr>
            <a:xfrm>
              <a:off x="8575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>
              <p:custDataLst>
                <p:tags r:id="rId2"/>
              </p:custDataLst>
            </p:nvPr>
          </p:nvSpPr>
          <p:spPr>
            <a:xfrm>
              <a:off x="9039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"/>
              </p:custDataLst>
            </p:nvPr>
          </p:nvSpPr>
          <p:spPr>
            <a:xfrm>
              <a:off x="9503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4"/>
              </p:custDataLst>
            </p:nvPr>
          </p:nvSpPr>
          <p:spPr>
            <a:xfrm>
              <a:off x="9967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5"/>
              </p:custDataLst>
            </p:nvPr>
          </p:nvSpPr>
          <p:spPr>
            <a:xfrm>
              <a:off x="8111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6"/>
              </p:custDataLst>
            </p:nvPr>
          </p:nvSpPr>
          <p:spPr>
            <a:xfrm>
              <a:off x="8575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7"/>
              </p:custDataLst>
            </p:nvPr>
          </p:nvSpPr>
          <p:spPr>
            <a:xfrm>
              <a:off x="9039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8"/>
              </p:custDataLst>
            </p:nvPr>
          </p:nvSpPr>
          <p:spPr>
            <a:xfrm>
              <a:off x="9503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9"/>
              </p:custDataLst>
            </p:nvPr>
          </p:nvSpPr>
          <p:spPr>
            <a:xfrm>
              <a:off x="9967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10"/>
              </p:custDataLst>
            </p:nvPr>
          </p:nvSpPr>
          <p:spPr>
            <a:xfrm>
              <a:off x="8111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11"/>
              </p:custDataLst>
            </p:nvPr>
          </p:nvSpPr>
          <p:spPr>
            <a:xfrm>
              <a:off x="8575" y="1075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12"/>
              </p:custDataLst>
            </p:nvPr>
          </p:nvSpPr>
          <p:spPr>
            <a:xfrm>
              <a:off x="9039" y="1075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13"/>
              </p:custDataLst>
            </p:nvPr>
          </p:nvSpPr>
          <p:spPr>
            <a:xfrm>
              <a:off x="9503" y="1075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14"/>
              </p:custDataLst>
            </p:nvPr>
          </p:nvSpPr>
          <p:spPr>
            <a:xfrm>
              <a:off x="9967" y="1075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15"/>
              </p:custDataLst>
            </p:nvPr>
          </p:nvSpPr>
          <p:spPr>
            <a:xfrm>
              <a:off x="8111" y="1075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16"/>
              </p:custDataLst>
            </p:nvPr>
          </p:nvSpPr>
          <p:spPr>
            <a:xfrm>
              <a:off x="7686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17"/>
              </p:custDataLst>
            </p:nvPr>
          </p:nvSpPr>
          <p:spPr>
            <a:xfrm>
              <a:off x="7686" y="654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18"/>
              </p:custDataLst>
            </p:nvPr>
          </p:nvSpPr>
          <p:spPr>
            <a:xfrm>
              <a:off x="7183" y="233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19"/>
              </p:custDataLst>
            </p:nvPr>
          </p:nvSpPr>
          <p:spPr>
            <a:xfrm>
              <a:off x="8575" y="1496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20"/>
              </p:custDataLst>
            </p:nvPr>
          </p:nvSpPr>
          <p:spPr>
            <a:xfrm>
              <a:off x="9039" y="1496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21"/>
              </p:custDataLst>
            </p:nvPr>
          </p:nvSpPr>
          <p:spPr>
            <a:xfrm>
              <a:off x="9503" y="1496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22"/>
              </p:custDataLst>
            </p:nvPr>
          </p:nvSpPr>
          <p:spPr>
            <a:xfrm>
              <a:off x="9967" y="1496"/>
              <a:ext cx="200" cy="200"/>
            </a:xfrm>
            <a:prstGeom prst="ellipse">
              <a:avLst/>
            </a:prstGeom>
            <a:solidFill>
              <a:srgbClr val="FFC844">
                <a:alpha val="4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1" name="矩形 60"/>
          <p:cNvSpPr/>
          <p:nvPr/>
        </p:nvSpPr>
        <p:spPr>
          <a:xfrm>
            <a:off x="444500" y="514985"/>
            <a:ext cx="142875" cy="467360"/>
          </a:xfrm>
          <a:prstGeom prst="rect">
            <a:avLst/>
          </a:prstGeom>
          <a:solidFill>
            <a:srgbClr val="F2BA0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椭圆 85"/>
          <p:cNvSpPr/>
          <p:nvPr>
            <p:custDataLst>
              <p:tags r:id="rId23"/>
            </p:custDataLst>
          </p:nvPr>
        </p:nvSpPr>
        <p:spPr>
          <a:xfrm>
            <a:off x="5197475" y="3467735"/>
            <a:ext cx="142875" cy="142875"/>
          </a:xfrm>
          <a:prstGeom prst="ellipse">
            <a:avLst/>
          </a:prstGeom>
          <a:solidFill>
            <a:srgbClr val="FFC8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/>
          </a:p>
        </p:txBody>
      </p:sp>
      <p:sp>
        <p:nvSpPr>
          <p:cNvPr id="87" name="椭圆 86"/>
          <p:cNvSpPr/>
          <p:nvPr>
            <p:custDataLst>
              <p:tags r:id="rId24"/>
            </p:custDataLst>
          </p:nvPr>
        </p:nvSpPr>
        <p:spPr>
          <a:xfrm>
            <a:off x="5197475" y="5027295"/>
            <a:ext cx="142875" cy="142875"/>
          </a:xfrm>
          <a:prstGeom prst="ellipse">
            <a:avLst/>
          </a:prstGeom>
          <a:solidFill>
            <a:srgbClr val="FFC8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/>
          </a:p>
        </p:txBody>
      </p:sp>
      <p:sp>
        <p:nvSpPr>
          <p:cNvPr id="88" name="椭圆 87"/>
          <p:cNvSpPr/>
          <p:nvPr>
            <p:custDataLst>
              <p:tags r:id="rId25"/>
            </p:custDataLst>
          </p:nvPr>
        </p:nvSpPr>
        <p:spPr>
          <a:xfrm>
            <a:off x="5197475" y="2308860"/>
            <a:ext cx="142875" cy="142875"/>
          </a:xfrm>
          <a:prstGeom prst="ellipse">
            <a:avLst/>
          </a:prstGeom>
          <a:solidFill>
            <a:srgbClr val="FFC8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/>
          </a:p>
        </p:txBody>
      </p:sp>
      <p:pic>
        <p:nvPicPr>
          <p:cNvPr id="4" name="图片 3" descr="心灵导师老师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3285" y="1748790"/>
            <a:ext cx="3702050" cy="3702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 rot="5400000">
            <a:off x="2279015" y="2797810"/>
            <a:ext cx="1599565" cy="1626870"/>
            <a:chOff x="9248" y="5746"/>
            <a:chExt cx="1610" cy="1637"/>
          </a:xfrm>
          <a:solidFill>
            <a:schemeClr val="bg1"/>
          </a:solidFill>
        </p:grpSpPr>
        <p:sp>
          <p:nvSpPr>
            <p:cNvPr id="22" name="矩形 21"/>
            <p:cNvSpPr/>
            <p:nvPr>
              <p:custDataLst>
                <p:tags r:id="rId1"/>
              </p:custDataLst>
            </p:nvPr>
          </p:nvSpPr>
          <p:spPr>
            <a:xfrm rot="5400000">
              <a:off x="8697" y="6297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"/>
              </p:custDataLst>
            </p:nvPr>
          </p:nvSpPr>
          <p:spPr>
            <a:xfrm>
              <a:off x="9248" y="5746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3"/>
              </p:custDataLst>
            </p:nvPr>
          </p:nvSpPr>
          <p:spPr>
            <a:xfrm rot="2700000">
              <a:off x="9512" y="6450"/>
              <a:ext cx="1358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7040" y="274955"/>
            <a:ext cx="2548890" cy="35877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536440" y="2875915"/>
            <a:ext cx="6311265" cy="110680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p>
            <a:pPr algn="l"/>
            <a:r>
              <a:rPr lang="zh-CN" altLang="en-US" sz="6600" b="1" dirty="0">
                <a:solidFill>
                  <a:schemeClr val="tx1"/>
                </a:solidFill>
                <a:latin typeface="MiSans Bold" panose="00000800000000000000" charset="-122"/>
                <a:ea typeface="MiSans Bold" panose="00000800000000000000" charset="-122"/>
                <a:sym typeface="+mn-ea"/>
              </a:rPr>
              <a:t>课程选择红线</a:t>
            </a:r>
            <a:endParaRPr lang="zh-CN" altLang="en-US" sz="6600" b="1" dirty="0">
              <a:solidFill>
                <a:schemeClr val="tx1"/>
              </a:solidFill>
              <a:latin typeface="MiSans Bold" panose="00000800000000000000" charset="-122"/>
              <a:ea typeface="MiSans Bold" panose="000008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04080" y="4164965"/>
            <a:ext cx="6583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MiSans" panose="00000500000000000000" charset="-122"/>
                <a:ea typeface="MiSans" panose="00000500000000000000" charset="-122"/>
              </a:rPr>
              <a:t>错误的选课不仅浪费学费，更可能延误毕业或影响进入理想专业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 userDrawn="1">
            <p:custDataLst>
              <p:tags r:id="rId1"/>
            </p:custDataLst>
          </p:nvPr>
        </p:nvSpPr>
        <p:spPr>
          <a:xfrm>
            <a:off x="901065" y="2068195"/>
            <a:ext cx="5471795" cy="1999615"/>
          </a:xfrm>
          <a:prstGeom prst="roundRect">
            <a:avLst/>
          </a:prstGeom>
          <a:solidFill>
            <a:srgbClr val="FFBA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5340" y="160020"/>
            <a:ext cx="8903335" cy="125920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选课红线</a:t>
            </a:r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</a:rPr>
              <a:t>——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选课数量及</a:t>
            </a:r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</a:rPr>
              <a:t>GPA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要求</a:t>
            </a:r>
            <a:endParaRPr lang="zh-CN" altLang="en-US" sz="32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占位符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24915" y="2862088"/>
            <a:ext cx="887095" cy="504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Sans Semibold" panose="00000700000000000000" charset="-122"/>
                <a:ea typeface="MiSans Semibold" panose="00000700000000000000" charset="-122"/>
                <a:cs typeface="MiSans Medium" panose="00000600000000000000" charset="-122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zh-CN" sz="3600" b="1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占位符 1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995170" y="2445385"/>
            <a:ext cx="3689985" cy="1089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Sans Regular" charset="-122"/>
                <a:ea typeface="MiSans Regular" charset="-122"/>
                <a:cs typeface="MiSans Medium" panose="00000600000000000000" charset="-122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最低选课数量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及GPA要求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6626588" y="2068489"/>
            <a:ext cx="4862830" cy="734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0" defTabSz="1828165" fontAlgn="auto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Regular" charset="-122"/>
              </a:rPr>
              <a:t>为保持F-1全日制学生身份，L&amp;S学院学生每学期通常需修读至少 13 units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MiSans Regular" charset="-122"/>
            </a:endParaRPr>
          </a:p>
        </p:txBody>
      </p:sp>
      <p:sp>
        <p:nvSpPr>
          <p:cNvPr id="2" name="标题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5340" y="1104900"/>
            <a:ext cx="10313035" cy="617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Course Selection Red Lines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6626588" y="3172813"/>
            <a:ext cx="4862830" cy="734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0" defTabSz="1828165" fontAlgn="auto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Regular" charset="-122"/>
              </a:rPr>
              <a:t>无法完成的后果：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Regular" charset="-122"/>
              </a:rPr>
              <a:t>低于此要求可能失去学生身份、影响签证。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MiSans Regular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626825" y="2889393"/>
            <a:ext cx="4913644" cy="0"/>
          </a:xfrm>
          <a:prstGeom prst="line">
            <a:avLst/>
          </a:prstGeom>
          <a:ln>
            <a:solidFill>
              <a:srgbClr val="FFB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626825" y="3947121"/>
            <a:ext cx="4913644" cy="0"/>
          </a:xfrm>
          <a:prstGeom prst="line">
            <a:avLst/>
          </a:prstGeom>
          <a:ln>
            <a:solidFill>
              <a:srgbClr val="FFB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编组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  <p:sp>
        <p:nvSpPr>
          <p:cNvPr id="19" name="圆角矩形 18"/>
          <p:cNvSpPr/>
          <p:nvPr userDrawn="1">
            <p:custDataLst>
              <p:tags r:id="rId10"/>
            </p:custDataLst>
          </p:nvPr>
        </p:nvSpPr>
        <p:spPr>
          <a:xfrm>
            <a:off x="901065" y="4293235"/>
            <a:ext cx="5471795" cy="1999615"/>
          </a:xfrm>
          <a:prstGeom prst="roundRect">
            <a:avLst/>
          </a:prstGeom>
          <a:solidFill>
            <a:srgbClr val="FFBA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占位符 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224915" y="5087128"/>
            <a:ext cx="887095" cy="504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Sans Semibold" panose="00000700000000000000" charset="-122"/>
                <a:ea typeface="MiSans Semibold" panose="00000700000000000000" charset="-122"/>
                <a:cs typeface="MiSans Medium" panose="00000600000000000000" charset="-122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zh-CN" sz="3600" b="1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文本占位符 1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995170" y="4670425"/>
            <a:ext cx="3689985" cy="1089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Sans Regular" charset="-122"/>
                <a:ea typeface="MiSans Regular" charset="-122"/>
                <a:cs typeface="MiSans Medium" panose="00000600000000000000" charset="-122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最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高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选课数量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及GPA要求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6626588" y="4624364"/>
            <a:ext cx="4862830" cy="734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0" defTabSz="1828165" fontAlgn="auto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Regular" charset="-122"/>
              </a:rPr>
              <a:t>L&amp;S学院学生每学期可选学分上限通常为20.5 units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MiSans Regular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6626588" y="5397853"/>
            <a:ext cx="4862830" cy="734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0" defTabSz="1828165" fontAlgn="auto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Regular" charset="-122"/>
              </a:rPr>
              <a:t>超额选课（超过16.5 units可能就需要advisor批准，具体看学院政策）需申请并可能需要额外理由。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MiSans Regular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626825" y="5114433"/>
            <a:ext cx="4913644" cy="0"/>
          </a:xfrm>
          <a:prstGeom prst="line">
            <a:avLst/>
          </a:prstGeom>
          <a:ln>
            <a:solidFill>
              <a:srgbClr val="FFB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626825" y="6172161"/>
            <a:ext cx="4913644" cy="0"/>
          </a:xfrm>
          <a:prstGeom prst="line">
            <a:avLst/>
          </a:prstGeom>
          <a:ln>
            <a:solidFill>
              <a:srgbClr val="FFBA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5340" y="160020"/>
            <a:ext cx="8903335" cy="125920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选课红线</a:t>
            </a:r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</a:rPr>
              <a:t>——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挂科后重修的费用及次数</a:t>
            </a:r>
            <a:endParaRPr lang="zh-CN" altLang="en-US" sz="32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5340" y="1104900"/>
            <a:ext cx="10313035" cy="617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Course Selection Red Lines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" name="图片 20" descr="编组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>
            <p:custDataLst>
              <p:tags r:id="rId5"/>
            </p:custDataLst>
          </p:nvPr>
        </p:nvCxnSpPr>
        <p:spPr>
          <a:xfrm>
            <a:off x="1265555" y="3968750"/>
            <a:ext cx="9661525" cy="3175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75000"/>
                <a:lumOff val="25000"/>
              </a:srgbClr>
            </a:solidFill>
            <a:prstDash val="dash"/>
            <a:miter lim="800000"/>
            <a:tailEnd type="arrow"/>
          </a:ln>
          <a:effectLst/>
        </p:spPr>
      </p:cxn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014855" y="4148455"/>
            <a:ext cx="1402080" cy="414655"/>
          </a:xfrm>
          <a:prstGeom prst="rect">
            <a:avLst/>
          </a:prstGeom>
          <a:noFill/>
        </p:spPr>
        <p:txBody>
          <a:bodyPr wrap="square" bIns="0" rtlCol="0">
            <a:normAutofit fontScale="80000"/>
          </a:bodyPr>
          <a:p>
            <a:pPr algn="ctr"/>
            <a:r>
              <a:rPr lang="zh-CN" altLang="en-US" sz="2500" spc="300">
                <a:solidFill>
                  <a:srgbClr val="7578EC">
                    <a:lumMod val="50000"/>
                  </a:srgbClr>
                </a:solidFill>
                <a:uFillTx/>
                <a:latin typeface="思源黑体 CN Bold" panose="02010600030101010101" charset="-122"/>
                <a:ea typeface="思源黑体 CN Bold" panose="02010600030101010101" charset="-122"/>
              </a:rPr>
              <a:t>经济成本</a:t>
            </a:r>
            <a:endParaRPr lang="zh-CN" altLang="en-US" sz="2500" spc="300">
              <a:solidFill>
                <a:srgbClr val="7578EC">
                  <a:lumMod val="50000"/>
                </a:srgbClr>
              </a:solidFill>
              <a:uFillTx/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814830" y="4505325"/>
            <a:ext cx="1802130" cy="152971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 fontAlgn="auto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重修课程意味着需要为该课程再次支付学费。</a:t>
            </a:r>
            <a:b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</a:br>
            <a:r>
              <a:rPr lang="en-US" altLang="zh-CN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UBC</a:t>
            </a: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重修一门课程大约需要缴纳</a:t>
            </a:r>
            <a:r>
              <a:rPr lang="en-US" altLang="zh-CN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50</a:t>
            </a: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刀。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7" name="矩形标注 16"/>
          <p:cNvSpPr/>
          <p:nvPr>
            <p:custDataLst>
              <p:tags r:id="rId8"/>
            </p:custDataLst>
          </p:nvPr>
        </p:nvSpPr>
        <p:spPr>
          <a:xfrm>
            <a:off x="1940560" y="2567305"/>
            <a:ext cx="1550670" cy="825500"/>
          </a:xfrm>
          <a:prstGeom prst="wedgeRectCallout">
            <a:avLst>
              <a:gd name="adj1" fmla="val -2056"/>
              <a:gd name="adj2" fmla="val 89856"/>
            </a:avLst>
          </a:prstGeom>
          <a:solidFill>
            <a:srgbClr val="7578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2401570" y="2733675"/>
            <a:ext cx="628650" cy="589280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p>
            <a:r>
              <a:rPr lang="en-US" altLang="zh-CN" sz="4000">
                <a:solidFill>
                  <a:srgbClr val="FFFFFF"/>
                </a:solidFill>
                <a:latin typeface="思源黑体 CN Bold" panose="02010600030101010101" charset="-122"/>
                <a:ea typeface="思源黑体 CN Bold" panose="02010600030101010101" charset="-122"/>
              </a:rPr>
              <a:t>01</a:t>
            </a:r>
            <a:endParaRPr lang="en-US" altLang="zh-CN" sz="4000">
              <a:solidFill>
                <a:srgbClr val="FFFFFF"/>
              </a:solidFill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4268470" y="4148455"/>
            <a:ext cx="1402080" cy="414655"/>
          </a:xfrm>
          <a:prstGeom prst="rect">
            <a:avLst/>
          </a:prstGeom>
          <a:noFill/>
        </p:spPr>
        <p:txBody>
          <a:bodyPr wrap="square" bIns="0" rtlCol="0">
            <a:normAutofit fontScale="80000"/>
          </a:bodyPr>
          <a:p>
            <a:pPr algn="ctr"/>
            <a:r>
              <a:rPr lang="zh-CN" altLang="en-US" sz="2500" spc="300">
                <a:solidFill>
                  <a:srgbClr val="F7B802">
                    <a:lumMod val="50000"/>
                  </a:srgbClr>
                </a:solidFill>
                <a:uFillTx/>
                <a:latin typeface="思源黑体 CN Bold" panose="02010600030101010101" charset="-122"/>
                <a:ea typeface="思源黑体 CN Bold" panose="02010600030101010101" charset="-122"/>
              </a:rPr>
              <a:t>时间成本</a:t>
            </a:r>
            <a:endParaRPr lang="zh-CN" altLang="en-US" sz="2500" spc="300">
              <a:solidFill>
                <a:srgbClr val="F7B802">
                  <a:lumMod val="50000"/>
                </a:srgbClr>
              </a:solidFill>
              <a:uFillTx/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068445" y="4505325"/>
            <a:ext cx="1802130" cy="152971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 fontAlgn="auto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</a:rPr>
              <a:t>重修会占用原本可以用于学习新课程或参与其他活动的时间，可能延误毕业。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3" name="矩形标注 32"/>
          <p:cNvSpPr/>
          <p:nvPr>
            <p:custDataLst>
              <p:tags r:id="rId12"/>
            </p:custDataLst>
          </p:nvPr>
        </p:nvSpPr>
        <p:spPr>
          <a:xfrm>
            <a:off x="4194175" y="2527300"/>
            <a:ext cx="1550670" cy="825500"/>
          </a:xfrm>
          <a:prstGeom prst="wedgeRectCallout">
            <a:avLst>
              <a:gd name="adj1" fmla="val -2056"/>
              <a:gd name="adj2" fmla="val 89856"/>
            </a:avLst>
          </a:prstGeom>
          <a:solidFill>
            <a:srgbClr val="F7B80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4667250" y="2733675"/>
            <a:ext cx="605155" cy="589280"/>
          </a:xfrm>
          <a:prstGeom prst="rect">
            <a:avLst/>
          </a:prstGeom>
          <a:noFill/>
        </p:spPr>
        <p:txBody>
          <a:bodyPr wrap="square" rtlCol="0">
            <a:normAutofit fontScale="50000"/>
          </a:bodyPr>
          <a:p>
            <a:r>
              <a:rPr lang="en-US" altLang="zh-CN" sz="5000">
                <a:solidFill>
                  <a:srgbClr val="FFFFFF"/>
                </a:solidFill>
                <a:latin typeface="思源黑体 CN Bold" panose="02010600030101010101" charset="-122"/>
                <a:ea typeface="思源黑体 CN Bold" panose="02010600030101010101" charset="-122"/>
              </a:rPr>
              <a:t>02</a:t>
            </a:r>
            <a:endParaRPr lang="en-US" altLang="zh-CN" sz="5000">
              <a:solidFill>
                <a:srgbClr val="FFFFFF"/>
              </a:solidFill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6522085" y="4148455"/>
            <a:ext cx="1402080" cy="414655"/>
          </a:xfrm>
          <a:prstGeom prst="rect">
            <a:avLst/>
          </a:prstGeom>
          <a:noFill/>
        </p:spPr>
        <p:txBody>
          <a:bodyPr wrap="square" bIns="0" rtlCol="0">
            <a:normAutofit fontScale="80000"/>
          </a:bodyPr>
          <a:p>
            <a:pPr algn="ctr"/>
            <a:r>
              <a:rPr lang="zh-CN" altLang="en-US" sz="2500" spc="300">
                <a:solidFill>
                  <a:srgbClr val="F18703">
                    <a:lumMod val="50000"/>
                  </a:srgbClr>
                </a:solidFill>
                <a:uFillTx/>
                <a:latin typeface="思源黑体 CN Bold" panose="02010600030101010101" charset="-122"/>
                <a:ea typeface="思源黑体 CN Bold" panose="02010600030101010101" charset="-122"/>
              </a:rPr>
              <a:t>次数限制</a:t>
            </a:r>
            <a:endParaRPr lang="zh-CN" altLang="en-US" sz="2500" spc="300">
              <a:solidFill>
                <a:srgbClr val="F18703">
                  <a:lumMod val="50000"/>
                </a:srgbClr>
              </a:solidFill>
              <a:uFillTx/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6322060" y="4515485"/>
            <a:ext cx="1802130" cy="152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UCB允许在一定条件下重修课程以替换原先的不良成绩（通常是D+及以下），但有次数限制（例如，同一门课最多重修一次以替换GPA，总共可替换的课程数量也有限制）。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6" name="矩形标注 35"/>
          <p:cNvSpPr/>
          <p:nvPr>
            <p:custDataLst>
              <p:tags r:id="rId16"/>
            </p:custDataLst>
          </p:nvPr>
        </p:nvSpPr>
        <p:spPr>
          <a:xfrm>
            <a:off x="6447790" y="2545080"/>
            <a:ext cx="1550670" cy="825500"/>
          </a:xfrm>
          <a:prstGeom prst="wedgeRectCallout">
            <a:avLst>
              <a:gd name="adj1" fmla="val -2056"/>
              <a:gd name="adj2" fmla="val 89856"/>
            </a:avLst>
          </a:prstGeom>
          <a:solidFill>
            <a:srgbClr val="F1870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6909435" y="2733675"/>
            <a:ext cx="607060" cy="589280"/>
          </a:xfrm>
          <a:prstGeom prst="rect">
            <a:avLst/>
          </a:prstGeom>
          <a:noFill/>
        </p:spPr>
        <p:txBody>
          <a:bodyPr wrap="square" rtlCol="0">
            <a:normAutofit fontScale="50000"/>
          </a:bodyPr>
          <a:p>
            <a:r>
              <a:rPr lang="en-US" altLang="zh-CN" sz="5000">
                <a:solidFill>
                  <a:srgbClr val="FFFFFF"/>
                </a:solidFill>
                <a:latin typeface="思源黑体 CN Bold" panose="02010600030101010101" charset="-122"/>
                <a:ea typeface="思源黑体 CN Bold" panose="02010600030101010101" charset="-122"/>
              </a:rPr>
              <a:t>03</a:t>
            </a:r>
            <a:endParaRPr lang="en-US" altLang="zh-CN" sz="5000">
              <a:solidFill>
                <a:srgbClr val="FFFFFF"/>
              </a:solidFill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8775700" y="4148455"/>
            <a:ext cx="1402080" cy="414655"/>
          </a:xfrm>
          <a:prstGeom prst="rect">
            <a:avLst/>
          </a:prstGeom>
          <a:noFill/>
        </p:spPr>
        <p:txBody>
          <a:bodyPr wrap="square" bIns="0" rtlCol="0">
            <a:normAutofit fontScale="80000"/>
          </a:bodyPr>
          <a:p>
            <a:pPr algn="ctr"/>
            <a:r>
              <a:rPr lang="zh-CN" altLang="en-US" sz="2500" spc="300">
                <a:solidFill>
                  <a:srgbClr val="F35B06">
                    <a:lumMod val="50000"/>
                  </a:srgbClr>
                </a:solidFill>
                <a:uFillTx/>
                <a:latin typeface="思源黑体 CN Bold" panose="02010600030101010101" charset="-122"/>
                <a:ea typeface="思源黑体 CN Bold" panose="02010600030101010101" charset="-122"/>
              </a:rPr>
              <a:t>成绩影响</a:t>
            </a:r>
            <a:endParaRPr lang="zh-CN" altLang="en-US" sz="2500" spc="300">
              <a:solidFill>
                <a:srgbClr val="F35B06">
                  <a:lumMod val="50000"/>
                </a:srgbClr>
              </a:solidFill>
              <a:uFillTx/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8575675" y="4515485"/>
            <a:ext cx="1802130" cy="152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对于CS专业声明所需的CS 61A, 61B, CS 70，任何一门挂科都会对您的GPA和申请造成不好的影响。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矩形标注 41"/>
          <p:cNvSpPr/>
          <p:nvPr>
            <p:custDataLst>
              <p:tags r:id="rId20"/>
            </p:custDataLst>
          </p:nvPr>
        </p:nvSpPr>
        <p:spPr>
          <a:xfrm>
            <a:off x="8701405" y="2545715"/>
            <a:ext cx="1550670" cy="825500"/>
          </a:xfrm>
          <a:prstGeom prst="wedgeRectCallout">
            <a:avLst>
              <a:gd name="adj1" fmla="val -2056"/>
              <a:gd name="adj2" fmla="val 89856"/>
            </a:avLst>
          </a:prstGeom>
          <a:solidFill>
            <a:srgbClr val="F35B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9152890" y="2733675"/>
            <a:ext cx="648335" cy="589280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p>
            <a:r>
              <a:rPr lang="en-US" altLang="zh-CN" sz="3125">
                <a:solidFill>
                  <a:srgbClr val="FFFFFF"/>
                </a:solidFill>
                <a:latin typeface="思源黑体 CN Bold" panose="02010600030101010101" charset="-122"/>
                <a:ea typeface="思源黑体 CN Bold" panose="02010600030101010101" charset="-122"/>
              </a:rPr>
              <a:t>04</a:t>
            </a:r>
            <a:endParaRPr lang="en-US" altLang="zh-CN" sz="3125">
              <a:solidFill>
                <a:srgbClr val="FFFFFF"/>
              </a:solidFill>
              <a:latin typeface="思源黑体 CN Bold" panose="02010600030101010101" charset="-122"/>
              <a:ea typeface="思源黑体 CN Bold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 rot="5400000">
            <a:off x="2279015" y="2797810"/>
            <a:ext cx="1599565" cy="1626870"/>
            <a:chOff x="9248" y="5746"/>
            <a:chExt cx="1610" cy="1637"/>
          </a:xfrm>
          <a:solidFill>
            <a:schemeClr val="bg1"/>
          </a:solidFill>
        </p:grpSpPr>
        <p:sp>
          <p:nvSpPr>
            <p:cNvPr id="22" name="矩形 21"/>
            <p:cNvSpPr/>
            <p:nvPr>
              <p:custDataLst>
                <p:tags r:id="rId1"/>
              </p:custDataLst>
            </p:nvPr>
          </p:nvSpPr>
          <p:spPr>
            <a:xfrm rot="5400000">
              <a:off x="8697" y="6297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"/>
              </p:custDataLst>
            </p:nvPr>
          </p:nvSpPr>
          <p:spPr>
            <a:xfrm>
              <a:off x="9248" y="5746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3"/>
              </p:custDataLst>
            </p:nvPr>
          </p:nvSpPr>
          <p:spPr>
            <a:xfrm rot="2700000">
              <a:off x="9512" y="6450"/>
              <a:ext cx="1358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7040" y="274955"/>
            <a:ext cx="2548890" cy="35877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536440" y="2875915"/>
            <a:ext cx="6311265" cy="110680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p>
            <a:pPr algn="l"/>
            <a:r>
              <a:rPr lang="zh-CN" altLang="en-US" sz="6600" b="1" dirty="0">
                <a:solidFill>
                  <a:schemeClr val="tx1"/>
                </a:solidFill>
                <a:latin typeface="MiSans Bold" panose="00000800000000000000" charset="-122"/>
                <a:ea typeface="MiSans Bold" panose="00000800000000000000" charset="-122"/>
                <a:sym typeface="+mn-ea"/>
              </a:rPr>
              <a:t>选对课的好处</a:t>
            </a:r>
            <a:endParaRPr lang="zh-CN" altLang="en-US" sz="6600" b="1" dirty="0">
              <a:solidFill>
                <a:schemeClr val="tx1"/>
              </a:solidFill>
              <a:latin typeface="MiSans Bold" panose="00000800000000000000" charset="-122"/>
              <a:ea typeface="MiSans Bold" panose="000008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04080" y="4164965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MiSans" panose="00000500000000000000" charset="-122"/>
                <a:ea typeface="MiSans" panose="00000500000000000000" charset="-122"/>
              </a:rPr>
              <a:t>增加获取奖学金的概率，提升未来竞争力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5340" y="160020"/>
            <a:ext cx="8903335" cy="125920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选对课的好处</a:t>
            </a:r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</a:rPr>
              <a:t>——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更加轻松获得奖学金</a:t>
            </a:r>
            <a:endParaRPr lang="zh-CN" altLang="en-US" sz="32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5340" y="1104900"/>
            <a:ext cx="10313035" cy="617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/>
                <a:latin typeface="MiSans Semibold" panose="00000700000000000000" charset="-122"/>
                <a:ea typeface="MiSans Semibold" panose="00000700000000000000" charset="-122"/>
                <a:cs typeface="+mj-cs"/>
              </a:defRPr>
            </a:lvl1pPr>
          </a:lstStyle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Course Selection Red Lines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" name="图片 20" descr="编组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0745" y="1913255"/>
            <a:ext cx="10984865" cy="1317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ts val="1980"/>
              </a:lnSpc>
            </a:pPr>
            <a:r>
              <a:rPr lang="en-US" altLang="zh-CN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</a:t>
            </a:r>
            <a:r>
              <a:rPr lang="zh-CN" altLang="en-US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、奖学金名称：Dean's Scholarship</a:t>
            </a:r>
            <a:endParaRPr lang="zh-CN" altLang="en-US" sz="1400" dirty="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indent="0" fontAlgn="auto">
              <a:lnSpc>
                <a:spcPts val="1980"/>
              </a:lnSpc>
            </a:pPr>
            <a:endParaRPr lang="zh-CN" altLang="en-US" sz="1400" dirty="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indent="0" fontAlgn="auto">
              <a:lnSpc>
                <a:spcPts val="1980"/>
              </a:lnSpc>
            </a:pPr>
            <a:r>
              <a:rPr lang="en-US" altLang="zh-CN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2</a:t>
            </a:r>
            <a:r>
              <a:rPr lang="zh-CN" altLang="en-US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、奖学金：</a:t>
            </a:r>
            <a:r>
              <a:rPr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每年 $5,000 美元</a:t>
            </a:r>
            <a:endParaRPr sz="1400" dirty="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indent="0" fontAlgn="auto">
              <a:lnSpc>
                <a:spcPts val="1980"/>
              </a:lnSpc>
            </a:pPr>
            <a:endParaRPr lang="en-US" altLang="zh-CN" sz="1400" dirty="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indent="0" fontAlgn="auto">
              <a:lnSpc>
                <a:spcPts val="1980"/>
              </a:lnSpc>
            </a:pPr>
            <a:r>
              <a:rPr lang="en-US" altLang="zh-CN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3</a:t>
            </a:r>
            <a:r>
              <a:rPr lang="zh-CN" altLang="en-US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、具体要求</a:t>
            </a:r>
            <a:r>
              <a:rPr lang="en-US" altLang="zh-CN" sz="1400" dirty="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  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 indent="0" fontAlgn="auto">
              <a:lnSpc>
                <a:spcPts val="1980"/>
              </a:lnSpc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5"/>
            </p:custDataLst>
          </p:nvPr>
        </p:nvSpPr>
        <p:spPr>
          <a:xfrm>
            <a:off x="1225550" y="3445510"/>
            <a:ext cx="1032510" cy="378460"/>
          </a:xfrm>
          <a:prstGeom prst="roundRect">
            <a:avLst/>
          </a:prstGeom>
          <a:solidFill>
            <a:srgbClr val="FFBA3B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GPA</a:t>
            </a:r>
            <a:r>
              <a:rPr lang="zh-CN" altLang="en-US" sz="1400" b="1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要求</a:t>
            </a:r>
            <a:endParaRPr lang="zh-CN" altLang="en-US" sz="1400" b="1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6"/>
            </p:custDataLst>
          </p:nvPr>
        </p:nvSpPr>
        <p:spPr>
          <a:xfrm>
            <a:off x="1225550" y="4375150"/>
            <a:ext cx="1032510" cy="378460"/>
          </a:xfrm>
          <a:prstGeom prst="roundRect">
            <a:avLst/>
          </a:prstGeom>
          <a:solidFill>
            <a:srgbClr val="FFBA3B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学分要求</a:t>
            </a:r>
            <a:endParaRPr lang="zh-CN" altLang="en-US" sz="1400" b="1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1225550" y="5304790"/>
            <a:ext cx="1032510" cy="378460"/>
          </a:xfrm>
          <a:prstGeom prst="roundRect">
            <a:avLst/>
          </a:prstGeom>
          <a:solidFill>
            <a:srgbClr val="FFBA3B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</a:rPr>
              <a:t>课程要求</a:t>
            </a:r>
            <a:endParaRPr lang="zh-CN" altLang="en-US" sz="1400" b="1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048000" y="3422015"/>
            <a:ext cx="60960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每学年结束时累计GPA (Cumulative GPA) 保持在 3.50 或以上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048000" y="4241800"/>
            <a:ext cx="7873365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需要每学期注册并成功完成至少 12-15 个可计学分的课程 (具体以奖学金条款为准，通常与全日制学生身份要求一致或略高)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048000" y="5188585"/>
            <a:ext cx="7203440" cy="1271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部分与特定学院或项目相关的奖学金，可能要求您在特定领域或专业内修读一定数量的课程，或在某些核心课程中取得特定成绩。”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“对于Dean's Scholarship，目前看来主要是基于总体学术表现，但如果未来您进入CS荣誉项目并申请相关荣誉奖学金，则可能会有CS高阶课程的要求。</a:t>
            </a:r>
            <a:endParaRPr lang="zh-CN" altLang="en-US" sz="1600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 rot="5400000">
            <a:off x="2279015" y="2797810"/>
            <a:ext cx="1599565" cy="1626870"/>
            <a:chOff x="9248" y="5746"/>
            <a:chExt cx="1610" cy="1637"/>
          </a:xfrm>
          <a:solidFill>
            <a:schemeClr val="bg1"/>
          </a:solidFill>
        </p:grpSpPr>
        <p:sp>
          <p:nvSpPr>
            <p:cNvPr id="22" name="矩形 21"/>
            <p:cNvSpPr/>
            <p:nvPr>
              <p:custDataLst>
                <p:tags r:id="rId1"/>
              </p:custDataLst>
            </p:nvPr>
          </p:nvSpPr>
          <p:spPr>
            <a:xfrm rot="5400000">
              <a:off x="8697" y="6297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"/>
              </p:custDataLst>
            </p:nvPr>
          </p:nvSpPr>
          <p:spPr>
            <a:xfrm>
              <a:off x="9248" y="5746"/>
              <a:ext cx="1611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3"/>
              </p:custDataLst>
            </p:nvPr>
          </p:nvSpPr>
          <p:spPr>
            <a:xfrm rot="2700000">
              <a:off x="9512" y="6450"/>
              <a:ext cx="1358" cy="5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7040" y="274955"/>
            <a:ext cx="2548890" cy="35877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536440" y="2875915"/>
            <a:ext cx="6311265" cy="110680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p>
            <a:pPr algn="l"/>
            <a:r>
              <a:rPr lang="zh-CN" altLang="en-US" sz="6600" b="1" dirty="0">
                <a:solidFill>
                  <a:schemeClr val="tx1"/>
                </a:solidFill>
                <a:latin typeface="MiSans Bold" panose="00000800000000000000" charset="-122"/>
                <a:ea typeface="MiSans Bold" panose="00000800000000000000" charset="-122"/>
                <a:sym typeface="+mn-ea"/>
              </a:rPr>
              <a:t>必修课程</a:t>
            </a:r>
            <a:endParaRPr lang="zh-CN" altLang="en-US" sz="6600" b="1" dirty="0">
              <a:solidFill>
                <a:schemeClr val="tx1"/>
              </a:solidFill>
              <a:latin typeface="MiSans Bold" panose="00000800000000000000" charset="-122"/>
              <a:ea typeface="MiSans Bold" panose="000008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04080" y="4164965"/>
            <a:ext cx="635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</a:rPr>
              <a:t>毕业或获得资格的必要条件，学生通常没有选择不修读的权利</a:t>
            </a:r>
            <a:endParaRPr lang="zh-CN" altLang="en-US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852861" y="953547"/>
            <a:ext cx="10254741" cy="1153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indent="0" algn="ctr" defTabSz="1828165" fontAlgn="auto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Normal" panose="00000500000000000000" charset="-122"/>
                <a:sym typeface="+mn-ea"/>
              </a:rPr>
              <a:t>本学期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Normal" panose="00000500000000000000" charset="-122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Normal" panose="00000500000000000000" charset="-122"/>
                <a:sym typeface="+mn-ea"/>
              </a:rPr>
              <a:t>学年必修课程列表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MiSans Normal" panose="00000500000000000000" charset="-122"/>
              <a:sym typeface="+mn-ea"/>
            </a:endParaRPr>
          </a:p>
          <a:p>
            <a:pPr marR="0" indent="0" algn="ctr" defTabSz="1828165" fontAlgn="auto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 Normal" panose="00000500000000000000" charset="-122"/>
                <a:sym typeface="+mn-ea"/>
              </a:rPr>
              <a:t>Outline of course selection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MiSans Semibold" panose="00000700000000000000" charset="-122"/>
              <a:ea typeface="MiSans Semibold" panose="00000700000000000000" charset="-122"/>
              <a:cs typeface="MiSans Normal" panose="00000500000000000000" charset="-122"/>
              <a:sym typeface="+mn-ea"/>
            </a:endParaRPr>
          </a:p>
          <a:p>
            <a:pPr marR="0" indent="0" defTabSz="1828165" fontAlgn="auto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741077" y="2216563"/>
          <a:ext cx="8255000" cy="3084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0"/>
              </a:tblGrid>
              <a:tr h="4622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dirty="0">
                          <a:latin typeface="黑体" panose="02010609060101010101" charset="-122"/>
                          <a:ea typeface="黑体" panose="02010609060101010101" charset="-122"/>
                        </a:rPr>
                        <a:t>课程名称（课号）</a:t>
                      </a:r>
                      <a:endParaRPr lang="zh-CN" altLang="en-US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rgbClr val="FFBA3C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CS 61A: The Structure and Interpretation of Computer Programs</a:t>
                      </a: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(4 units)</a:t>
                      </a: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 </a:t>
                      </a:r>
                      <a:endParaRPr lang="en-US" altLang="zh-CN" sz="1600" dirty="0"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CS 61B: Data Structures (4 units)</a:t>
                      </a:r>
                      <a:endParaRPr lang="en-US" altLang="zh-CN" sz="1600" dirty="0"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62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CS 70: Discrete Mathematics and Probability Theory (4 units)</a:t>
                      </a:r>
                      <a:endParaRPr lang="en-US" altLang="zh-CN" sz="1600" dirty="0"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MATH 1A: Calculus (4 units)</a:t>
                      </a:r>
                      <a:endParaRPr lang="en-US" altLang="zh-CN" sz="1600" dirty="0"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EE 16A: Designing Information Devices and Systems I (4 units)</a:t>
                      </a:r>
                      <a:endParaRPr lang="en-US" altLang="zh-CN" sz="1600" dirty="0"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" name="图片 11" descr="编组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-31115" y="-34925"/>
            <a:ext cx="12252960" cy="6926580"/>
          </a:xfrm>
          <a:prstGeom prst="rect">
            <a:avLst/>
          </a:prstGeom>
          <a:solidFill>
            <a:srgbClr val="FFBA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4"/>
          <p:cNvSpPr txBox="1"/>
          <p:nvPr>
            <p:custDataLst>
              <p:tags r:id="rId2"/>
            </p:custDataLst>
          </p:nvPr>
        </p:nvSpPr>
        <p:spPr>
          <a:xfrm>
            <a:off x="3830241" y="1365250"/>
            <a:ext cx="79109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1828165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kern="1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04.</a:t>
            </a:r>
            <a:endParaRPr kumimoji="0" lang="en-US" sz="4000" b="1" kern="1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cxnSp>
        <p:nvCxnSpPr>
          <p:cNvPr id="4" name="Straight Connector 5"/>
          <p:cNvCxnSpPr/>
          <p:nvPr>
            <p:custDataLst>
              <p:tags r:id="rId3"/>
            </p:custDataLst>
          </p:nvPr>
        </p:nvCxnSpPr>
        <p:spPr>
          <a:xfrm>
            <a:off x="3875446" y="2203540"/>
            <a:ext cx="7458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8"/>
          <p:cNvSpPr txBox="1"/>
          <p:nvPr>
            <p:custDataLst>
              <p:tags r:id="rId4"/>
            </p:custDataLst>
          </p:nvPr>
        </p:nvSpPr>
        <p:spPr>
          <a:xfrm>
            <a:off x="3795395" y="2457841"/>
            <a:ext cx="4600575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1828165" fontAlgn="auto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kern="100" cap="none" spc="-30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重要时间线</a:t>
            </a:r>
            <a:endParaRPr kumimoji="0" lang="zh-CN" altLang="en-US" sz="6000" b="1" kern="100" cap="none" spc="-30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390" name="TextBox 5"/>
          <p:cNvSpPr txBox="1"/>
          <p:nvPr>
            <p:custDataLst>
              <p:tags r:id="rId5"/>
            </p:custDataLst>
          </p:nvPr>
        </p:nvSpPr>
        <p:spPr>
          <a:xfrm>
            <a:off x="3875446" y="3752847"/>
            <a:ext cx="3254777" cy="3321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fontAlgn="auto">
              <a:lnSpc>
                <a:spcPts val="1880"/>
              </a:lnSpc>
              <a:buNone/>
            </a:pPr>
            <a:r>
              <a:rPr lang="en-US" alt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Key timeline</a:t>
            </a:r>
            <a:endParaRPr lang="en-US" altLang="ru-RU" sz="14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2" name="图片 11" descr="编组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  <p:pic>
        <p:nvPicPr>
          <p:cNvPr id="9" name="图片 8" descr="编组 40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8100060" y="4432935"/>
            <a:ext cx="4538980" cy="2668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编组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0985" y="193040"/>
            <a:ext cx="2524125" cy="377825"/>
          </a:xfrm>
          <a:prstGeom prst="rect">
            <a:avLst/>
          </a:prstGeom>
        </p:spPr>
      </p:pic>
      <p:sp>
        <p:nvSpPr>
          <p:cNvPr id="94" name="Google Shape;94;p27"/>
          <p:cNvSpPr/>
          <p:nvPr>
            <p:custDataLst>
              <p:tags r:id="rId3"/>
            </p:custDataLst>
          </p:nvPr>
        </p:nvSpPr>
        <p:spPr>
          <a:xfrm rot="-5400000">
            <a:off x="9422808" y="4088808"/>
            <a:ext cx="2769192" cy="2769192"/>
          </a:xfrm>
          <a:prstGeom prst="rtTriangle">
            <a:avLst/>
          </a:prstGeom>
          <a:solidFill>
            <a:srgbClr val="FFBA3C">
              <a:alpha val="21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94;p27"/>
          <p:cNvSpPr/>
          <p:nvPr>
            <p:custDataLst>
              <p:tags r:id="rId4"/>
            </p:custDataLst>
          </p:nvPr>
        </p:nvSpPr>
        <p:spPr>
          <a:xfrm rot="-5400000">
            <a:off x="9120505" y="3787775"/>
            <a:ext cx="3070860" cy="3070860"/>
          </a:xfrm>
          <a:prstGeom prst="rtTriangle">
            <a:avLst/>
          </a:prstGeom>
          <a:solidFill>
            <a:srgbClr val="FFBA3C">
              <a:alpha val="21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14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5919814" y="1753549"/>
            <a:ext cx="306406" cy="4085588"/>
          </a:xfrm>
          <a:prstGeom prst="roundRect">
            <a:avLst>
              <a:gd name="adj" fmla="val 50000"/>
            </a:avLst>
          </a:prstGeom>
          <a:solidFill>
            <a:srgbClr val="686868">
              <a:lumMod val="20000"/>
              <a:lumOff val="80000"/>
              <a:alpha val="69804"/>
            </a:srgbClr>
          </a:solidFill>
          <a:ln w="12700" cmpd="sng">
            <a:noFill/>
            <a:round/>
          </a:ln>
          <a:effectLst/>
        </p:spPr>
        <p:txBody>
          <a:bodyPr>
            <a:normAutofit/>
          </a:bodyPr>
          <a:lstStyle/>
          <a:p>
            <a:endParaRPr lang="zh-CN" altLang="en-US">
              <a:sym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>
            <p:custDataLst>
              <p:tags r:id="rId6"/>
            </p:custDataLst>
          </p:nvPr>
        </p:nvGrpSpPr>
        <p:grpSpPr>
          <a:xfrm>
            <a:off x="2491394" y="1981317"/>
            <a:ext cx="6999533" cy="858520"/>
            <a:chOff x="748264" y="1667475"/>
            <a:chExt cx="6999533" cy="858520"/>
          </a:xfrm>
        </p:grpSpPr>
        <p:sp>
          <p:nvSpPr>
            <p:cNvPr id="14" name="椭圆 13"/>
            <p:cNvSpPr/>
            <p:nvPr>
              <p:custDataLst>
                <p:tags r:id="rId7"/>
              </p:custDataLst>
            </p:nvPr>
          </p:nvSpPr>
          <p:spPr>
            <a:xfrm>
              <a:off x="4244428" y="2015393"/>
              <a:ext cx="176481" cy="176481"/>
            </a:xfrm>
            <a:prstGeom prst="ellipse">
              <a:avLst/>
            </a:prstGeom>
            <a:solidFill>
              <a:srgbClr val="68686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sp>
          <p:nvSpPr>
            <p:cNvPr id="15" name="椭圆形标注 14"/>
            <p:cNvSpPr/>
            <p:nvPr>
              <p:custDataLst>
                <p:tags r:id="rId8"/>
              </p:custDataLst>
            </p:nvPr>
          </p:nvSpPr>
          <p:spPr>
            <a:xfrm rot="6221014" flipH="1">
              <a:off x="6986756" y="1776545"/>
              <a:ext cx="711366" cy="704208"/>
            </a:xfrm>
            <a:prstGeom prst="wedgeEllipseCallout">
              <a:avLst>
                <a:gd name="adj1" fmla="val -11257"/>
                <a:gd name="adj2" fmla="val 65210"/>
              </a:avLst>
            </a:prstGeom>
            <a:noFill/>
            <a:ln w="12700" cmpd="sng">
              <a:solidFill>
                <a:srgbClr val="686868">
                  <a:lumMod val="60000"/>
                  <a:lumOff val="40000"/>
                </a:srgbClr>
              </a:solidFill>
              <a:round/>
            </a:ln>
            <a:effectLst/>
          </p:spPr>
          <p:txBody>
            <a:bodyPr>
              <a:normAutofit/>
            </a:bodyPr>
            <a:lstStyle/>
            <a:p>
              <a:endParaRPr lang="en-US">
                <a:sym typeface="Arial" panose="020B0604020202020204" pitchFamily="34" charset="0"/>
              </a:endParaRPr>
            </a:p>
          </p:txBody>
        </p:sp>
        <p:sp>
          <p:nvSpPr>
            <p:cNvPr id="16" name="TextBox 3"/>
            <p:cNvSpPr txBox="1"/>
            <p:nvPr>
              <p:custDataLst>
                <p:tags r:id="rId9"/>
              </p:custDataLst>
            </p:nvPr>
          </p:nvSpPr>
          <p:spPr>
            <a:xfrm flipH="1">
              <a:off x="6962431" y="1940494"/>
              <a:ext cx="785366" cy="452311"/>
            </a:xfrm>
            <a:prstGeom prst="rect">
              <a:avLst/>
            </a:prstGeom>
            <a:noFill/>
            <a:effectLst/>
          </p:spPr>
          <p:txBody>
            <a:bodyPr wrap="square" rtlCol="0">
              <a:normAutofit fontScale="70000"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smtClean="0">
                  <a:ln w="18415" cmpd="sng">
                    <a:noFill/>
                    <a:prstDash val="solid"/>
                  </a:ln>
                  <a:solidFill>
                    <a:srgbClr val="686868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3200" b="1" i="0" u="none" strike="noStrike" kern="0" cap="none" spc="0" normalizeH="0" baseline="0" noProof="0" smtClean="0">
                <a:ln w="18415" cmpd="sng">
                  <a:noFill/>
                  <a:prstDash val="solid"/>
                </a:ln>
                <a:solidFill>
                  <a:srgbClr val="686868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17" name="直接连接符 16"/>
            <p:cNvCxnSpPr>
              <a:stCxn id="14" idx="6"/>
            </p:cNvCxnSpPr>
            <p:nvPr>
              <p:custDataLst>
                <p:tags r:id="rId10"/>
              </p:custDataLst>
            </p:nvPr>
          </p:nvCxnSpPr>
          <p:spPr>
            <a:xfrm>
              <a:off x="4402712" y="2096884"/>
              <a:ext cx="2495279" cy="0"/>
            </a:xfrm>
            <a:prstGeom prst="line">
              <a:avLst/>
            </a:prstGeom>
            <a:noFill/>
            <a:ln w="12700" cmpd="sng">
              <a:solidFill>
                <a:srgbClr val="686868">
                  <a:lumMod val="60000"/>
                  <a:lumOff val="40000"/>
                </a:srgbClr>
              </a:solidFill>
              <a:round/>
            </a:ln>
            <a:effectLst/>
          </p:spPr>
        </p:cxnSp>
        <p:sp>
          <p:nvSpPr>
            <p:cNvPr id="29" name="TextBox 21"/>
            <p:cNvSpPr txBox="1"/>
            <p:nvPr>
              <p:custDataLst>
                <p:tags r:id="rId11"/>
              </p:custDataLst>
            </p:nvPr>
          </p:nvSpPr>
          <p:spPr>
            <a:xfrm>
              <a:off x="748264" y="1667475"/>
              <a:ext cx="3369310" cy="8585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lnSpcReduction="20000"/>
            </a:bodyPr>
            <a:lstStyle/>
            <a:p>
              <a:pPr algn="r">
                <a:defRPr/>
              </a:pPr>
              <a:r>
                <a:rPr lang="zh-CN" altLang="en-US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查看个人选课时间：</a:t>
              </a:r>
              <a:r>
                <a:rPr lang="en-US" altLang="zh-CN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8.3</a:t>
              </a:r>
              <a:endParaRPr lang="zh-CN" altLang="en-US" dirty="0">
                <a:solidFill>
                  <a:srgbClr val="68686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Arial" panose="020B0604020202020204" pitchFamily="34" charset="0"/>
              </a:endParaRPr>
            </a:p>
            <a:p>
              <a:pPr algn="r">
                <a:defRPr/>
              </a:pPr>
              <a:r>
                <a:rPr lang="zh-CN" altLang="en-US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选课时间：</a:t>
              </a:r>
              <a:r>
                <a:rPr lang="en-US" altLang="zh-CN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8.20</a:t>
              </a:r>
              <a:endParaRPr lang="zh-CN" altLang="en-US" dirty="0">
                <a:solidFill>
                  <a:srgbClr val="68686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2"/>
            </p:custDataLst>
          </p:nvPr>
        </p:nvGrpSpPr>
        <p:grpSpPr>
          <a:xfrm>
            <a:off x="2701073" y="2905062"/>
            <a:ext cx="5917065" cy="858818"/>
            <a:chOff x="957943" y="2443305"/>
            <a:chExt cx="5917065" cy="858818"/>
          </a:xfrm>
        </p:grpSpPr>
        <p:sp>
          <p:nvSpPr>
            <p:cNvPr id="5" name="椭圆 4"/>
            <p:cNvSpPr/>
            <p:nvPr>
              <p:custDataLst>
                <p:tags r:id="rId13"/>
              </p:custDataLst>
            </p:nvPr>
          </p:nvSpPr>
          <p:spPr>
            <a:xfrm flipH="1">
              <a:off x="4247326" y="2785254"/>
              <a:ext cx="176481" cy="176481"/>
            </a:xfrm>
            <a:prstGeom prst="ellipse">
              <a:avLst/>
            </a:prstGeom>
            <a:solidFill>
              <a:srgbClr val="8C7B70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sp>
          <p:nvSpPr>
            <p:cNvPr id="11" name="椭圆形标注 10"/>
            <p:cNvSpPr/>
            <p:nvPr>
              <p:custDataLst>
                <p:tags r:id="rId14"/>
              </p:custDataLst>
            </p:nvPr>
          </p:nvSpPr>
          <p:spPr>
            <a:xfrm rot="15378986">
              <a:off x="1007618" y="2546406"/>
              <a:ext cx="711366" cy="704208"/>
            </a:xfrm>
            <a:prstGeom prst="wedgeEllipseCallout">
              <a:avLst>
                <a:gd name="adj1" fmla="val -11257"/>
                <a:gd name="adj2" fmla="val 65210"/>
              </a:avLst>
            </a:prstGeom>
            <a:noFill/>
            <a:ln w="12700" cmpd="sng">
              <a:solidFill>
                <a:srgbClr val="8C7B70">
                  <a:lumMod val="60000"/>
                  <a:lumOff val="40000"/>
                </a:srgbClr>
              </a:solidFill>
              <a:round/>
            </a:ln>
            <a:effectLst/>
          </p:spPr>
          <p:txBody>
            <a:bodyPr rtlCol="0" anchor="ctr">
              <a:normAutofit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sp>
          <p:nvSpPr>
            <p:cNvPr id="13" name="TextBox 6"/>
            <p:cNvSpPr txBox="1"/>
            <p:nvPr>
              <p:custDataLst>
                <p:tags r:id="rId15"/>
              </p:custDataLst>
            </p:nvPr>
          </p:nvSpPr>
          <p:spPr>
            <a:xfrm>
              <a:off x="957943" y="2710355"/>
              <a:ext cx="785366" cy="452311"/>
            </a:xfrm>
            <a:prstGeom prst="rect">
              <a:avLst/>
            </a:prstGeom>
            <a:noFill/>
          </p:spPr>
          <p:txBody>
            <a:bodyPr wrap="square" rtlCol="0">
              <a:normAutofit fontScale="70000"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smtClean="0">
                  <a:ln w="18415" cmpd="sng">
                    <a:noFill/>
                    <a:prstDash val="solid"/>
                  </a:ln>
                  <a:solidFill>
                    <a:srgbClr val="8C7B7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3200" b="1" i="0" u="none" strike="noStrike" kern="0" cap="none" spc="0" normalizeH="0" baseline="0" noProof="0" smtClean="0">
                <a:ln w="18415" cmpd="sng">
                  <a:noFill/>
                  <a:prstDash val="solid"/>
                </a:ln>
                <a:solidFill>
                  <a:srgbClr val="8C7B7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16"/>
              </p:custDataLst>
            </p:nvPr>
          </p:nvCxnSpPr>
          <p:spPr>
            <a:xfrm flipH="1">
              <a:off x="1809785" y="2866745"/>
              <a:ext cx="2410900" cy="0"/>
            </a:xfrm>
            <a:prstGeom prst="line">
              <a:avLst/>
            </a:prstGeom>
            <a:noFill/>
            <a:ln w="12700" cmpd="sng">
              <a:solidFill>
                <a:srgbClr val="8C7B70">
                  <a:lumMod val="60000"/>
                  <a:lumOff val="40000"/>
                </a:srgbClr>
              </a:solidFill>
              <a:round/>
            </a:ln>
            <a:effectLst/>
          </p:spPr>
        </p:cxnSp>
        <p:sp>
          <p:nvSpPr>
            <p:cNvPr id="30" name="TextBox 22"/>
            <p:cNvSpPr txBox="1"/>
            <p:nvPr>
              <p:custDataLst>
                <p:tags r:id="rId17"/>
              </p:custDataLst>
            </p:nvPr>
          </p:nvSpPr>
          <p:spPr>
            <a:xfrm>
              <a:off x="4500904" y="2443305"/>
              <a:ext cx="2374104" cy="858818"/>
            </a:xfrm>
            <a:prstGeom prst="rect">
              <a:avLst/>
            </a:prstGeom>
            <a:noFill/>
            <a:effectLst/>
          </p:spPr>
          <p:txBody>
            <a:bodyPr wrap="square" rtlCol="0" anchor="ctr" anchorCtr="0">
              <a:norm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开学时间：</a:t>
              </a:r>
              <a:r>
                <a:rPr lang="en-US" altLang="zh-CN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8.25</a:t>
              </a:r>
              <a:endParaRPr lang="en-US" altLang="zh-CN" dirty="0">
                <a:solidFill>
                  <a:srgbClr val="68686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8"/>
            </p:custDataLst>
          </p:nvPr>
        </p:nvGrpSpPr>
        <p:grpSpPr>
          <a:xfrm>
            <a:off x="3460918" y="3828807"/>
            <a:ext cx="6030009" cy="858818"/>
            <a:chOff x="1717788" y="3206742"/>
            <a:chExt cx="6030009" cy="858818"/>
          </a:xfrm>
        </p:grpSpPr>
        <p:sp>
          <p:nvSpPr>
            <p:cNvPr id="19" name="椭圆 18"/>
            <p:cNvSpPr/>
            <p:nvPr>
              <p:custDataLst>
                <p:tags r:id="rId19"/>
              </p:custDataLst>
            </p:nvPr>
          </p:nvSpPr>
          <p:spPr>
            <a:xfrm>
              <a:off x="4244428" y="3548925"/>
              <a:ext cx="176481" cy="176481"/>
            </a:xfrm>
            <a:prstGeom prst="ellipse">
              <a:avLst/>
            </a:prstGeom>
            <a:solidFill>
              <a:srgbClr val="68686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sp>
          <p:nvSpPr>
            <p:cNvPr id="20" name="椭圆形标注 19"/>
            <p:cNvSpPr/>
            <p:nvPr>
              <p:custDataLst>
                <p:tags r:id="rId20"/>
              </p:custDataLst>
            </p:nvPr>
          </p:nvSpPr>
          <p:spPr>
            <a:xfrm rot="6221014" flipH="1">
              <a:off x="6986756" y="3310077"/>
              <a:ext cx="711366" cy="704208"/>
            </a:xfrm>
            <a:prstGeom prst="wedgeEllipseCallout">
              <a:avLst>
                <a:gd name="adj1" fmla="val -11257"/>
                <a:gd name="adj2" fmla="val 65210"/>
              </a:avLst>
            </a:prstGeom>
            <a:noFill/>
            <a:ln w="12700" cmpd="sng">
              <a:solidFill>
                <a:srgbClr val="686868">
                  <a:lumMod val="60000"/>
                  <a:lumOff val="40000"/>
                </a:srgbClr>
              </a:solidFill>
              <a:round/>
            </a:ln>
            <a:effectLst/>
          </p:spPr>
          <p:txBody>
            <a:bodyPr rtlCol="0" anchor="ctr">
              <a:normAutofit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sp>
          <p:nvSpPr>
            <p:cNvPr id="21" name="TextBox 9"/>
            <p:cNvSpPr txBox="1"/>
            <p:nvPr>
              <p:custDataLst>
                <p:tags r:id="rId21"/>
              </p:custDataLst>
            </p:nvPr>
          </p:nvSpPr>
          <p:spPr>
            <a:xfrm flipH="1">
              <a:off x="6962431" y="3474026"/>
              <a:ext cx="785366" cy="452311"/>
            </a:xfrm>
            <a:prstGeom prst="rect">
              <a:avLst/>
            </a:prstGeom>
            <a:noFill/>
            <a:effectLst/>
          </p:spPr>
          <p:txBody>
            <a:bodyPr wrap="square" rtlCol="0">
              <a:normAutofit fontScale="70000"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smtClean="0">
                  <a:ln w="18415" cmpd="sng">
                    <a:noFill/>
                    <a:prstDash val="solid"/>
                  </a:ln>
                  <a:solidFill>
                    <a:srgbClr val="686868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charset="-122"/>
                  <a:cs typeface="+mn-ea"/>
                  <a:sym typeface="Arial" panose="020B0604020202020204" pitchFamily="34" charset="0"/>
                </a:rPr>
                <a:t>03</a:t>
              </a:r>
              <a:endParaRPr kumimoji="0" lang="en-US" altLang="zh-CN" sz="3200" b="1" i="0" u="none" strike="noStrike" kern="0" cap="none" spc="0" normalizeH="0" baseline="0" noProof="0" smtClean="0">
                <a:ln w="18415" cmpd="sng">
                  <a:noFill/>
                  <a:prstDash val="solid"/>
                </a:ln>
                <a:solidFill>
                  <a:srgbClr val="686868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22" name="直接连接符 21"/>
            <p:cNvCxnSpPr>
              <a:stCxn id="19" idx="6"/>
            </p:cNvCxnSpPr>
            <p:nvPr>
              <p:custDataLst>
                <p:tags r:id="rId22"/>
              </p:custDataLst>
            </p:nvPr>
          </p:nvCxnSpPr>
          <p:spPr>
            <a:xfrm>
              <a:off x="4402707" y="3630416"/>
              <a:ext cx="2495279" cy="0"/>
            </a:xfrm>
            <a:prstGeom prst="line">
              <a:avLst/>
            </a:prstGeom>
            <a:noFill/>
            <a:ln w="12700" cmpd="sng">
              <a:solidFill>
                <a:srgbClr val="686868">
                  <a:lumMod val="60000"/>
                  <a:lumOff val="40000"/>
                </a:srgbClr>
              </a:solidFill>
              <a:round/>
            </a:ln>
            <a:effectLst/>
          </p:spPr>
        </p:cxnSp>
        <p:sp>
          <p:nvSpPr>
            <p:cNvPr id="31" name="TextBox 23"/>
            <p:cNvSpPr txBox="1"/>
            <p:nvPr>
              <p:custDataLst>
                <p:tags r:id="rId23"/>
              </p:custDataLst>
            </p:nvPr>
          </p:nvSpPr>
          <p:spPr>
            <a:xfrm>
              <a:off x="1717788" y="3206742"/>
              <a:ext cx="2374104" cy="858818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algn="r">
                <a:defRPr/>
              </a:pPr>
              <a:r>
                <a:rPr lang="zh-CN" altLang="en-US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换课截止时间：</a:t>
              </a:r>
              <a:r>
                <a:rPr lang="en-US" altLang="zh-CN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9.17</a:t>
              </a:r>
              <a:endParaRPr lang="en-US" altLang="zh-CN" dirty="0">
                <a:solidFill>
                  <a:srgbClr val="68686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24"/>
            </p:custDataLst>
          </p:nvPr>
        </p:nvGrpSpPr>
        <p:grpSpPr>
          <a:xfrm>
            <a:off x="2701073" y="4752552"/>
            <a:ext cx="5917065" cy="858818"/>
            <a:chOff x="957943" y="4020699"/>
            <a:chExt cx="5917065" cy="858818"/>
          </a:xfrm>
        </p:grpSpPr>
        <p:sp>
          <p:nvSpPr>
            <p:cNvPr id="23" name="椭圆 22"/>
            <p:cNvSpPr/>
            <p:nvPr>
              <p:custDataLst>
                <p:tags r:id="rId25"/>
              </p:custDataLst>
            </p:nvPr>
          </p:nvSpPr>
          <p:spPr>
            <a:xfrm flipH="1">
              <a:off x="4247326" y="4361868"/>
              <a:ext cx="176481" cy="176481"/>
            </a:xfrm>
            <a:prstGeom prst="ellipse">
              <a:avLst/>
            </a:prstGeom>
            <a:solidFill>
              <a:srgbClr val="8C7B70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marL="0" marR="0" lvl="0" indent="0" algn="ctr" defTabSz="91440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Arial" panose="020B0604020202020204" pitchFamily="34" charset="0"/>
              </a:endParaRPr>
            </a:p>
          </p:txBody>
        </p:sp>
        <p:cxnSp>
          <p:nvCxnSpPr>
            <p:cNvPr id="24" name="直接连接符 23"/>
            <p:cNvCxnSpPr/>
            <p:nvPr>
              <p:custDataLst>
                <p:tags r:id="rId26"/>
              </p:custDataLst>
            </p:nvPr>
          </p:nvCxnSpPr>
          <p:spPr>
            <a:xfrm flipH="1">
              <a:off x="1809785" y="4450108"/>
              <a:ext cx="2410900" cy="0"/>
            </a:xfrm>
            <a:prstGeom prst="line">
              <a:avLst/>
            </a:prstGeom>
            <a:noFill/>
            <a:ln w="12700" cmpd="sng">
              <a:solidFill>
                <a:srgbClr val="8C7B70">
                  <a:lumMod val="60000"/>
                  <a:lumOff val="40000"/>
                </a:srgbClr>
              </a:solidFill>
              <a:round/>
            </a:ln>
            <a:effectLst/>
          </p:spPr>
        </p:cxnSp>
        <p:sp>
          <p:nvSpPr>
            <p:cNvPr id="25" name="椭圆形标注 24"/>
            <p:cNvSpPr/>
            <p:nvPr>
              <p:custDataLst>
                <p:tags r:id="rId27"/>
              </p:custDataLst>
            </p:nvPr>
          </p:nvSpPr>
          <p:spPr>
            <a:xfrm rot="15378986">
              <a:off x="1007618" y="4098004"/>
              <a:ext cx="711366" cy="704208"/>
            </a:xfrm>
            <a:prstGeom prst="wedgeEllipseCallout">
              <a:avLst>
                <a:gd name="adj1" fmla="val -11257"/>
                <a:gd name="adj2" fmla="val 65210"/>
              </a:avLst>
            </a:prstGeom>
            <a:noFill/>
            <a:ln w="12700" cmpd="sng">
              <a:solidFill>
                <a:srgbClr val="8C7B70">
                  <a:lumMod val="60000"/>
                  <a:lumOff val="40000"/>
                </a:srgbClr>
              </a:solidFill>
              <a:round/>
            </a:ln>
            <a:effectLst/>
          </p:spPr>
          <p:txBody>
            <a:bodyPr rtlCol="0" anchor="ctr">
              <a:norm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kern="0">
                <a:solidFill>
                  <a:sysClr val="window" lastClr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6" name="TextBox 14"/>
            <p:cNvSpPr txBox="1"/>
            <p:nvPr>
              <p:custDataLst>
                <p:tags r:id="rId28"/>
              </p:custDataLst>
            </p:nvPr>
          </p:nvSpPr>
          <p:spPr>
            <a:xfrm>
              <a:off x="957943" y="4223953"/>
              <a:ext cx="785366" cy="452311"/>
            </a:xfrm>
            <a:prstGeom prst="rect">
              <a:avLst/>
            </a:prstGeom>
            <a:noFill/>
          </p:spPr>
          <p:txBody>
            <a:bodyPr wrap="square" rtlCol="0">
              <a:normAutofit fontScale="70000"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smtClean="0">
                  <a:ln w="18415" cmpd="sng">
                    <a:noFill/>
                    <a:prstDash val="solid"/>
                  </a:ln>
                  <a:solidFill>
                    <a:srgbClr val="8C7B7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charset="-122"/>
                  <a:cs typeface="+mn-ea"/>
                  <a:sym typeface="Arial" panose="020B0604020202020204" pitchFamily="34" charset="0"/>
                </a:rPr>
                <a:t>04</a:t>
              </a:r>
              <a:endParaRPr kumimoji="0" lang="en-US" altLang="zh-CN" sz="3200" b="1" i="0" u="none" strike="noStrike" kern="0" cap="none" spc="0" normalizeH="0" baseline="0" noProof="0" smtClean="0">
                <a:ln w="18415" cmpd="sng">
                  <a:noFill/>
                  <a:prstDash val="solid"/>
                </a:ln>
                <a:solidFill>
                  <a:srgbClr val="8C7B7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TextBox 24"/>
            <p:cNvSpPr txBox="1"/>
            <p:nvPr>
              <p:custDataLst>
                <p:tags r:id="rId29"/>
              </p:custDataLst>
            </p:nvPr>
          </p:nvSpPr>
          <p:spPr>
            <a:xfrm>
              <a:off x="4500904" y="4020699"/>
              <a:ext cx="2374104" cy="858818"/>
            </a:xfrm>
            <a:prstGeom prst="rect">
              <a:avLst/>
            </a:prstGeom>
            <a:noFill/>
            <a:effectLst/>
          </p:spPr>
          <p:txBody>
            <a:bodyPr wrap="square" rtlCol="0" anchor="ctr" anchorCtr="0">
              <a:norm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学费缴纳时间：</a:t>
              </a:r>
              <a:r>
                <a:rPr lang="en-US" altLang="zh-CN" dirty="0">
                  <a:solidFill>
                    <a:srgbClr val="68686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Arial" panose="020B0604020202020204" pitchFamily="34" charset="0"/>
                </a:rPr>
                <a:t>9.20</a:t>
              </a:r>
              <a:endParaRPr lang="en-US" altLang="zh-CN" dirty="0">
                <a:solidFill>
                  <a:srgbClr val="68686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30"/>
            </p:custDataLst>
          </p:nvPr>
        </p:nvSpPr>
        <p:spPr>
          <a:xfrm>
            <a:off x="2862761" y="897376"/>
            <a:ext cx="6258198" cy="461665"/>
          </a:xfrm>
          <a:prstGeom prst="rect">
            <a:avLst/>
          </a:prstGeom>
        </p:spPr>
        <p:txBody>
          <a:bodyPr wrap="square">
            <a:normAutofit fontScale="90000"/>
          </a:bodyPr>
          <a:lstStyle/>
          <a:p>
            <a:pPr algn="ctr"/>
            <a:r>
              <a:rPr lang="zh-CN" altLang="en-US" sz="2400" b="1" dirty="0">
                <a:latin typeface="MiSans" panose="00000500000000000000" charset="-122"/>
                <a:ea typeface="MiSans" panose="00000500000000000000" charset="-122"/>
                <a:cs typeface="+mn-ea"/>
                <a:sym typeface="Arial" panose="020B0604020202020204" pitchFamily="34" charset="0"/>
              </a:rPr>
              <a:t>时间线</a:t>
            </a:r>
            <a:endParaRPr lang="zh-CN" altLang="en-US" sz="2400" b="1" dirty="0">
              <a:latin typeface="MiSans" panose="00000500000000000000" charset="-122"/>
              <a:ea typeface="MiSans" panose="0000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8305" y="158115"/>
            <a:ext cx="90900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老师请介绍选课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换课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/drop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相关时间线（阅后删除）</a:t>
            </a:r>
            <a:endParaRPr lang="zh-CN" altLang="en-US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  <p:tag name="KSO_WM_UNIT_PLACING_PICTURE_USER_VIEWPORT" val="{&quot;height&quot;:710,&quot;width&quot;:4743}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28090_4*l_i*1_1"/>
  <p:tag name="KSO_WM_TEMPLATE_CATEGORY" val="diagram"/>
  <p:tag name="KSO_WM_TEMPLATE_INDEX" val="20228090"/>
  <p:tag name="KSO_WM_UNIT_LAYERLEVEL" val="1_1"/>
  <p:tag name="KSO_WM_TAG_VERSION" val="1.0"/>
  <p:tag name="KSO_WM_BEAUTIFY_FLAG" val="#wm#"/>
  <p:tag name="KSO_WM_UNIT_LINE_FORE_SCHEMECOLOR_INDEX" val="13"/>
  <p:tag name="KSO_WM_UNIT_LINE_FILL_TYPE" val="2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90_4*l_h_a*1_1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5"/>
  <p:tag name="KSO_WM_UNIT_TEXT_FILL_TYPE" val="1"/>
</p:tagLst>
</file>

<file path=ppt/tags/tag6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0_4*l_h_f*1_1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5"/>
  <p:tag name="KSO_WM_UNIT_TEXT_FILL_TYP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0_4*l_h_i*1_1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0_4*l_h_i*1_1_2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90_4*l_h_a*1_2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6"/>
  <p:tag name="KSO_WM_UNIT_TEXT_FILL_TYPE" val="1"/>
</p:tagLst>
</file>

<file path=ppt/tags/tag64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90_4*l_h_f*1_2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5"/>
  <p:tag name="KSO_WM_UNIT_TEXT_FILL_TYPE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90_4*l_h_i*1_2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28090_4*l_h_i*1_2_2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090_4*l_h_a*1_3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7"/>
  <p:tag name="KSO_WM_UNIT_TEXT_FILL_TYPE" val="1"/>
</p:tagLst>
</file>

<file path=ppt/tags/tag6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90_4*l_h_f*1_3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5"/>
  <p:tag name="KSO_WM_UNIT_TEXT_FILL_TYPE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090_4*l_h_i*1_3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diagram20228090_4*l_h_i*1_3_2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28090_4*l_h_a*1_4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8"/>
  <p:tag name="KSO_WM_UNIT_TEXT_FILL_TYPE" val="1"/>
</p:tagLst>
</file>

<file path=ppt/tags/tag72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90_4*l_h_f*1_4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5"/>
  <p:tag name="KSO_WM_UNIT_TEXT_FILL_TYPE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90_4*l_h_i*1_4_1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ID" val="diagram20228090_4*l_h_i*1_4_2"/>
  <p:tag name="KSO_WM_TEMPLATE_CATEGORY" val="diagram"/>
  <p:tag name="KSO_WM_TEMPLATE_INDEX" val="2022809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UNIT_TABLE_BEAUTIFY" val="smartTable{4b3c67a9-9e22-4044-a9c9-7721dfad77c5}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1"/>
  <p:tag name="KSO_WM_UNIT_ID" val="diagram64_4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64_4*i*1"/>
  <p:tag name="KSO_WM_TEMPLATE_CATEGORY" val="diagram"/>
  <p:tag name="KSO_WM_TEMPLATE_INDEX" val="64"/>
  <p:tag name="KSO_WM_UNIT_INDEX" val="1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2"/>
  <p:tag name="KSO_WM_UNIT_ID" val="diagram64_4*m_i*1_2"/>
  <p:tag name="KSO_WM_UNIT_CLEAR" val="1"/>
  <p:tag name="KSO_WM_UNIT_LAYERLEVEL" val="1_1"/>
  <p:tag name="KSO_WM_DIAGRAM_GROUP_CODE" val="m1-1"/>
  <p:tag name="KSO_WM_UNIT_FILL_FORE_SCHEMECOLOR_INDEX" val="5"/>
  <p:tag name="KSO_WM_UNIT_FILL_TYPE" val="1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3"/>
  <p:tag name="KSO_WM_UNIT_ID" val="diagram64_4*m_i*1_3"/>
  <p:tag name="KSO_WM_UNIT_CLEAR" val="1"/>
  <p:tag name="KSO_WM_UNIT_LAYERLEVEL" val="1_1"/>
  <p:tag name="KSO_WM_DIAGRAM_GROUP_CODE" val="m1-1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0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a"/>
  <p:tag name="KSO_WM_UNIT_INDEX" val="1_1_1"/>
  <p:tag name="KSO_WM_UNIT_ID" val="diagram64_4*m_h_a*1_1_1"/>
  <p:tag name="KSO_WM_UNIT_CLEAR" val="1"/>
  <p:tag name="KSO_WM_UNIT_LAYERLEVEL" val="1_1_1"/>
  <p:tag name="KSO_WM_UNIT_VALUE" val="1"/>
  <p:tag name="KSO_WM_UNIT_HIGHLIGHT" val="0"/>
  <p:tag name="KSO_WM_UNIT_COMPATIBLE" val="0"/>
  <p:tag name="KSO_WM_DIAGRAM_GROUP_CODE" val="m1-1"/>
  <p:tag name="KSO_WM_UNIT_PRESET_TEXT" val="01"/>
  <p:tag name="KSO_WM_UNIT_TEXT_FILL_FORE_SCHEMECOLOR_INDEX" val="5"/>
  <p:tag name="KSO_WM_UNIT_TEXT_FILL_TYPE" val="1"/>
</p:tagLst>
</file>

<file path=ppt/tags/tag10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4"/>
  <p:tag name="KSO_WM_UNIT_ID" val="diagram64_4*m_i*1_4"/>
  <p:tag name="KSO_WM_UNIT_CLEAR" val="1"/>
  <p:tag name="KSO_WM_UNIT_LAYERLEVEL" val="1_1"/>
  <p:tag name="KSO_WM_DIAGRAM_GROUP_CODE" val="m1-1"/>
  <p:tag name="KSO_WM_UNIT_LINE_FORE_SCHEMECOLOR_INDEX" val="5"/>
  <p:tag name="KSO_WM_UNIT_LINE_FILL_TYPE" val="2"/>
</p:tagLst>
</file>

<file path=ppt/tags/tag10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f"/>
  <p:tag name="KSO_WM_UNIT_INDEX" val="1_1_1"/>
  <p:tag name="KSO_WM_UNIT_ID" val="diagram64_4*m_h_f*1_1_1"/>
  <p:tag name="KSO_WM_UNIT_CLEAR" val="1"/>
  <p:tag name="KSO_WM_UNIT_LAYERLEVEL" val="1_1_1"/>
  <p:tag name="KSO_WM_UNIT_VALUE" val="27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5"/>
  <p:tag name="KSO_WM_UNIT_TEXT_FILL_TYPE" val="1"/>
</p:tagLst>
</file>

<file path=ppt/tags/tag1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64_4*i*12"/>
  <p:tag name="KSO_WM_TEMPLATE_CATEGORY" val="diagram"/>
  <p:tag name="KSO_WM_TEMPLATE_INDEX" val="64"/>
  <p:tag name="KSO_WM_UNIT_INDEX" val="12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5"/>
  <p:tag name="KSO_WM_UNIT_ID" val="diagram64_4*m_i*1_5"/>
  <p:tag name="KSO_WM_UNIT_CLEAR" val="1"/>
  <p:tag name="KSO_WM_UNIT_LAYERLEVEL" val="1_1"/>
  <p:tag name="KSO_WM_DIAGRAM_GROUP_CODE" val="m1-1"/>
  <p:tag name="KSO_WM_UNIT_FILL_FORE_SCHEMECOLOR_INDEX" val="6"/>
  <p:tag name="KSO_WM_UNIT_FILL_TYPE" val="1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6"/>
  <p:tag name="KSO_WM_UNIT_ID" val="diagram64_4*m_i*1_6"/>
  <p:tag name="KSO_WM_UNIT_CLEAR" val="1"/>
  <p:tag name="KSO_WM_UNIT_LAYERLEVEL" val="1_1"/>
  <p:tag name="KSO_WM_DIAGRAM_GROUP_CODE" val="m1-1"/>
  <p:tag name="KSO_WM_UNIT_LINE_FORE_SCHEMECOLOR_INDEX" val="6"/>
  <p:tag name="KSO_WM_UNIT_LINE_FILL_TYPE" val="2"/>
</p:tagLst>
</file>

<file path=ppt/tags/tag11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a"/>
  <p:tag name="KSO_WM_UNIT_INDEX" val="1_2_1"/>
  <p:tag name="KSO_WM_UNIT_ID" val="diagram64_4*m_h_a*1_2_1"/>
  <p:tag name="KSO_WM_UNIT_CLEAR" val="1"/>
  <p:tag name="KSO_WM_UNIT_LAYERLEVEL" val="1_1_1"/>
  <p:tag name="KSO_WM_UNIT_VALUE" val="1"/>
  <p:tag name="KSO_WM_UNIT_HIGHLIGHT" val="0"/>
  <p:tag name="KSO_WM_UNIT_COMPATIBLE" val="0"/>
  <p:tag name="KSO_WM_DIAGRAM_GROUP_CODE" val="m1-1"/>
  <p:tag name="KSO_WM_UNIT_PRESET_TEXT" val="02"/>
  <p:tag name="KSO_WM_UNIT_TEXT_FILL_FORE_SCHEMECOLOR_INDEX" val="6"/>
  <p:tag name="KSO_WM_UNIT_TEXT_FILL_TYPE" val="1"/>
</p:tagLst>
</file>

<file path=ppt/tags/tag11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7"/>
  <p:tag name="KSO_WM_UNIT_ID" val="diagram64_4*m_i*1_7"/>
  <p:tag name="KSO_WM_UNIT_CLEAR" val="1"/>
  <p:tag name="KSO_WM_UNIT_LAYERLEVEL" val="1_1"/>
  <p:tag name="KSO_WM_DIAGRAM_GROUP_CODE" val="m1-1"/>
  <p:tag name="KSO_WM_UNIT_LINE_FORE_SCHEMECOLOR_INDEX" val="6"/>
  <p:tag name="KSO_WM_UNIT_LINE_FILL_TYPE" val="2"/>
</p:tagLst>
</file>

<file path=ppt/tags/tag11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f"/>
  <p:tag name="KSO_WM_UNIT_INDEX" val="1_2_1"/>
  <p:tag name="KSO_WM_UNIT_ID" val="diagram64_4*m_h_f*1_2_1"/>
  <p:tag name="KSO_WM_UNIT_CLEAR" val="1"/>
  <p:tag name="KSO_WM_UNIT_LAYERLEVEL" val="1_1_1"/>
  <p:tag name="KSO_WM_UNIT_VALUE" val="27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5"/>
  <p:tag name="KSO_WM_UNIT_TEXT_FILL_TYPE" val="1"/>
</p:tagLst>
</file>

<file path=ppt/tags/tag1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64_4*i*23"/>
  <p:tag name="KSO_WM_TEMPLATE_CATEGORY" val="diagram"/>
  <p:tag name="KSO_WM_TEMPLATE_INDEX" val="64"/>
  <p:tag name="KSO_WM_UNIT_INDEX" val="23"/>
</p:tagLst>
</file>

<file path=ppt/tags/tag11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8"/>
  <p:tag name="KSO_WM_UNIT_ID" val="diagram64_4*m_i*1_8"/>
  <p:tag name="KSO_WM_UNIT_CLEAR" val="1"/>
  <p:tag name="KSO_WM_UNIT_LAYERLEVEL" val="1_1"/>
  <p:tag name="KSO_WM_DIAGRAM_GROUP_CODE" val="m1-1"/>
  <p:tag name="KSO_WM_UNIT_FILL_FORE_SCHEMECOLOR_INDEX" val="5"/>
  <p:tag name="KSO_WM_UNIT_FILL_TYPE" val="1"/>
</p:tagLst>
</file>

<file path=ppt/tags/tag11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9"/>
  <p:tag name="KSO_WM_UNIT_ID" val="diagram64_4*m_i*1_9"/>
  <p:tag name="KSO_WM_UNIT_CLEAR" val="1"/>
  <p:tag name="KSO_WM_UNIT_LAYERLEVEL" val="1_1"/>
  <p:tag name="KSO_WM_DIAGRAM_GROUP_CODE" val="m1-1"/>
  <p:tag name="KSO_WM_UNIT_LINE_FORE_SCHEMECOLOR_INDEX" val="5"/>
  <p:tag name="KSO_WM_UNIT_LINE_FILL_TYPE" val="2"/>
</p:tagLst>
</file>

<file path=ppt/tags/tag11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a"/>
  <p:tag name="KSO_WM_UNIT_INDEX" val="1_3_1"/>
  <p:tag name="KSO_WM_UNIT_ID" val="diagram64_4*m_h_a*1_3_1"/>
  <p:tag name="KSO_WM_UNIT_CLEAR" val="1"/>
  <p:tag name="KSO_WM_UNIT_LAYERLEVEL" val="1_1_1"/>
  <p:tag name="KSO_WM_UNIT_VALUE" val="1"/>
  <p:tag name="KSO_WM_UNIT_HIGHLIGHT" val="0"/>
  <p:tag name="KSO_WM_UNIT_COMPATIBLE" val="0"/>
  <p:tag name="KSO_WM_DIAGRAM_GROUP_CODE" val="m1-1"/>
  <p:tag name="KSO_WM_UNIT_PRESET_TEXT" val="03"/>
  <p:tag name="KSO_WM_UNIT_TEXT_FILL_FORE_SCHEMECOLOR_INDEX" val="5"/>
  <p:tag name="KSO_WM_UNIT_TEXT_FILL_TYPE" val="1"/>
</p:tagLst>
</file>

<file path=ppt/tags/tag12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10"/>
  <p:tag name="KSO_WM_UNIT_ID" val="diagram64_4*m_i*1_10"/>
  <p:tag name="KSO_WM_UNIT_CLEAR" val="1"/>
  <p:tag name="KSO_WM_UNIT_LAYERLEVEL" val="1_1"/>
  <p:tag name="KSO_WM_DIAGRAM_GROUP_CODE" val="m1-1"/>
  <p:tag name="KSO_WM_UNIT_LINE_FORE_SCHEMECOLOR_INDEX" val="5"/>
  <p:tag name="KSO_WM_UNIT_LINE_FILL_TYPE" val="2"/>
</p:tagLst>
</file>

<file path=ppt/tags/tag12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f"/>
  <p:tag name="KSO_WM_UNIT_INDEX" val="1_3_1"/>
  <p:tag name="KSO_WM_UNIT_ID" val="diagram64_4*m_h_f*1_3_1"/>
  <p:tag name="KSO_WM_UNIT_CLEAR" val="1"/>
  <p:tag name="KSO_WM_UNIT_LAYERLEVEL" val="1_1_1"/>
  <p:tag name="KSO_WM_UNIT_VALUE" val="27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5"/>
  <p:tag name="KSO_WM_UNIT_TEXT_FILL_TYPE" val="1"/>
</p:tagLst>
</file>

<file path=ppt/tags/tag1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64_4*i*34"/>
  <p:tag name="KSO_WM_TEMPLATE_CATEGORY" val="diagram"/>
  <p:tag name="KSO_WM_TEMPLATE_INDEX" val="64"/>
  <p:tag name="KSO_WM_UNIT_INDEX" val="34"/>
</p:tagLst>
</file>

<file path=ppt/tags/tag12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11"/>
  <p:tag name="KSO_WM_UNIT_ID" val="diagram64_4*m_i*1_11"/>
  <p:tag name="KSO_WM_UNIT_CLEAR" val="1"/>
  <p:tag name="KSO_WM_UNIT_LAYERLEVEL" val="1_1"/>
  <p:tag name="KSO_WM_DIAGRAM_GROUP_CODE" val="m1-1"/>
  <p:tag name="KSO_WM_UNIT_FILL_FORE_SCHEMECOLOR_INDEX" val="6"/>
  <p:tag name="KSO_WM_UNIT_FILL_TYPE" val="1"/>
</p:tagLst>
</file>

<file path=ppt/tags/tag12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12"/>
  <p:tag name="KSO_WM_UNIT_ID" val="diagram64_4*m_i*1_12"/>
  <p:tag name="KSO_WM_UNIT_CLEAR" val="1"/>
  <p:tag name="KSO_WM_UNIT_LAYERLEVEL" val="1_1"/>
  <p:tag name="KSO_WM_DIAGRAM_GROUP_CODE" val="m1-1"/>
  <p:tag name="KSO_WM_UNIT_LINE_FORE_SCHEMECOLOR_INDEX" val="6"/>
  <p:tag name="KSO_WM_UNIT_LINE_FILL_TYPE" val="2"/>
</p:tagLst>
</file>

<file path=ppt/tags/tag12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i"/>
  <p:tag name="KSO_WM_UNIT_INDEX" val="1_13"/>
  <p:tag name="KSO_WM_UNIT_ID" val="diagram64_4*m_i*1_13"/>
  <p:tag name="KSO_WM_UNIT_CLEAR" val="1"/>
  <p:tag name="KSO_WM_UNIT_LAYERLEVEL" val="1_1"/>
  <p:tag name="KSO_WM_DIAGRAM_GROUP_CODE" val="m1-1"/>
  <p:tag name="KSO_WM_UNIT_LINE_FORE_SCHEMECOLOR_INDEX" val="6"/>
  <p:tag name="KSO_WM_UNIT_LINE_FILL_TYPE" val="2"/>
</p:tagLst>
</file>

<file path=ppt/tags/tag12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a"/>
  <p:tag name="KSO_WM_UNIT_INDEX" val="1_4_1"/>
  <p:tag name="KSO_WM_UNIT_ID" val="diagram64_4*m_h_a*1_4_1"/>
  <p:tag name="KSO_WM_UNIT_CLEAR" val="1"/>
  <p:tag name="KSO_WM_UNIT_LAYERLEVEL" val="1_1_1"/>
  <p:tag name="KSO_WM_UNIT_VALUE" val="1"/>
  <p:tag name="KSO_WM_UNIT_HIGHLIGHT" val="0"/>
  <p:tag name="KSO_WM_UNIT_COMPATIBLE" val="0"/>
  <p:tag name="KSO_WM_DIAGRAM_GROUP_CODE" val="m1-1"/>
  <p:tag name="KSO_WM_UNIT_PRESET_TEXT" val="04"/>
  <p:tag name="KSO_WM_UNIT_TEXT_FILL_FORE_SCHEMECOLOR_INDEX" val="6"/>
  <p:tag name="KSO_WM_UNIT_TEXT_FILL_TYPE" val="1"/>
</p:tagLst>
</file>

<file path=ppt/tags/tag12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TYPE" val="m_h_f"/>
  <p:tag name="KSO_WM_UNIT_INDEX" val="1_4_1"/>
  <p:tag name="KSO_WM_UNIT_ID" val="diagram64_4*m_h_f*1_4_1"/>
  <p:tag name="KSO_WM_UNIT_CLEAR" val="1"/>
  <p:tag name="KSO_WM_UNIT_LAYERLEVEL" val="1_1_1"/>
  <p:tag name="KSO_WM_UNIT_VALUE" val="27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5"/>
  <p:tag name="KSO_WM_UNIT_TEXT_FILL_TYPE" val="1"/>
</p:tagLst>
</file>

<file path=ppt/tags/tag12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4"/>
  <p:tag name="KSO_WM_UNIT_RELATE_UNITID" val="259*m*1"/>
  <p:tag name="KSO_WM_UNIT_TYPE" val="a"/>
  <p:tag name="KSO_WM_UNIT_INDEX" val="1"/>
  <p:tag name="KSO_WM_UNIT_ID" val="diagram64_4*a*1"/>
  <p:tag name="KSO_WM_UNIT_CLEAR" val="1"/>
  <p:tag name="KSO_WM_UNIT_LAYERLEVEL" val="1"/>
  <p:tag name="KSO_WM_UNIT_VALUE" val="23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1705</Words>
  <Application>WPS 演示</Application>
  <PresentationFormat>宽屏</PresentationFormat>
  <Paragraphs>162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MiSans Semibold</vt:lpstr>
      <vt:lpstr>黑体</vt:lpstr>
      <vt:lpstr>Open Sans</vt:lpstr>
      <vt:lpstr>Segoe Print</vt:lpstr>
      <vt:lpstr>Alibaba PuHuiTi B</vt:lpstr>
      <vt:lpstr>Alibaba PuHuiTi L</vt:lpstr>
      <vt:lpstr>Alibaba PuHuiTi H</vt:lpstr>
      <vt:lpstr>MiSans Normal</vt:lpstr>
      <vt:lpstr>MiSans Demibold</vt:lpstr>
      <vt:lpstr>MiSans Medium</vt:lpstr>
      <vt:lpstr>KSOF96B67187</vt:lpstr>
      <vt:lpstr>MiSans Bold</vt:lpstr>
      <vt:lpstr>MiSans</vt:lpstr>
      <vt:lpstr>MiSans Regular</vt:lpstr>
      <vt:lpstr>思源黑体 CN Bold</vt:lpstr>
      <vt:lpstr>KSOFD723FC5D</vt:lpstr>
      <vt:lpstr>Calibri</vt:lpstr>
      <vt:lpstr>Agency FB</vt:lpstr>
      <vt:lpstr>Trebuchet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Miracle</cp:lastModifiedBy>
  <cp:revision>6</cp:revision>
  <dcterms:created xsi:type="dcterms:W3CDTF">2023-08-09T12:44:00Z</dcterms:created>
  <dcterms:modified xsi:type="dcterms:W3CDTF">2026-04-10T01:37:40Z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E41C8DF027714F82AAE32DCD9DD8CDE4_12</vt:lpwstr>
  </property>
</Properties>
</file>